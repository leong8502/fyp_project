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243" r:id="rId1"/>
  </p:sldMasterIdLst>
  <p:notesMasterIdLst>
    <p:notesMasterId r:id="rId28"/>
  </p:notesMasterIdLst>
  <p:sldIdLst>
    <p:sldId id="256" r:id="rId2"/>
    <p:sldId id="285" r:id="rId3"/>
    <p:sldId id="286" r:id="rId4"/>
    <p:sldId id="291" r:id="rId5"/>
    <p:sldId id="259" r:id="rId6"/>
    <p:sldId id="260" r:id="rId7"/>
    <p:sldId id="261" r:id="rId8"/>
    <p:sldId id="263" r:id="rId9"/>
    <p:sldId id="262" r:id="rId10"/>
    <p:sldId id="264" r:id="rId11"/>
    <p:sldId id="265" r:id="rId12"/>
    <p:sldId id="266" r:id="rId13"/>
    <p:sldId id="267" r:id="rId14"/>
    <p:sldId id="287" r:id="rId15"/>
    <p:sldId id="288" r:id="rId16"/>
    <p:sldId id="289" r:id="rId17"/>
    <p:sldId id="290" r:id="rId18"/>
    <p:sldId id="268" r:id="rId19"/>
    <p:sldId id="271" r:id="rId20"/>
    <p:sldId id="273" r:id="rId21"/>
    <p:sldId id="274" r:id="rId22"/>
    <p:sldId id="275" r:id="rId23"/>
    <p:sldId id="283" r:id="rId24"/>
    <p:sldId id="276" r:id="rId25"/>
    <p:sldId id="281" r:id="rId26"/>
    <p:sldId id="28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R UC" initials="TU" lastIdx="0" clrIdx="0">
    <p:extLst>
      <p:ext uri="{19B8F6BF-5375-455C-9EA6-DF929625EA0E}">
        <p15:presenceInfo xmlns:p15="http://schemas.microsoft.com/office/powerpoint/2012/main" userId="TAR U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95197" autoAdjust="0"/>
  </p:normalViewPr>
  <p:slideViewPr>
    <p:cSldViewPr snapToGrid="0">
      <p:cViewPr varScale="1">
        <p:scale>
          <a:sx n="64" d="100"/>
          <a:sy n="64" d="100"/>
        </p:scale>
        <p:origin x="1014" y="7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201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A21412-94BD-4334-83EB-8774B1D08C5F}" type="datetimeFigureOut">
              <a:rPr lang="en-US" smtClean="0"/>
              <a:t>6/18/2025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DC7280-BADE-4673-A0B2-506575D9E488}" type="slidenum">
              <a:rPr lang="en-US" smtClean="0"/>
              <a:t>‹#›</a:t>
            </a:fld>
            <a:endParaRPr lang="en-US"/>
          </a:p>
        </p:txBody>
      </p:sp>
    </p:spTree>
    <p:extLst>
      <p:ext uri="{BB962C8B-B14F-4D97-AF65-F5344CB8AC3E}">
        <p14:creationId xmlns:p14="http://schemas.microsoft.com/office/powerpoint/2010/main" val="1587437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EDDC7280-BADE-4673-A0B2-506575D9E488}" type="slidenum">
              <a:rPr lang="en-US" smtClean="0"/>
              <a:t>2</a:t>
            </a:fld>
            <a:endParaRPr lang="en-US"/>
          </a:p>
        </p:txBody>
      </p:sp>
    </p:spTree>
    <p:extLst>
      <p:ext uri="{BB962C8B-B14F-4D97-AF65-F5344CB8AC3E}">
        <p14:creationId xmlns:p14="http://schemas.microsoft.com/office/powerpoint/2010/main" val="741622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Re-Engineering</a:t>
            </a:r>
          </a:p>
        </p:txBody>
      </p:sp>
      <p:sp>
        <p:nvSpPr>
          <p:cNvPr id="4" name="Slide Number Placeholder 3"/>
          <p:cNvSpPr>
            <a:spLocks noGrp="1"/>
          </p:cNvSpPr>
          <p:nvPr>
            <p:ph type="sldNum" sz="quarter" idx="10"/>
          </p:nvPr>
        </p:nvSpPr>
        <p:spPr/>
        <p:txBody>
          <a:bodyPr/>
          <a:lstStyle/>
          <a:p>
            <a:fld id="{EDDC7280-BADE-4673-A0B2-506575D9E488}" type="slidenum">
              <a:rPr lang="en-US" smtClean="0"/>
              <a:t>8</a:t>
            </a:fld>
            <a:endParaRPr lang="en-US"/>
          </a:p>
        </p:txBody>
      </p:sp>
    </p:spTree>
    <p:extLst>
      <p:ext uri="{BB962C8B-B14F-4D97-AF65-F5344CB8AC3E}">
        <p14:creationId xmlns:p14="http://schemas.microsoft.com/office/powerpoint/2010/main" val="1175779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Rejuvenation</a:t>
            </a:r>
          </a:p>
        </p:txBody>
      </p:sp>
      <p:sp>
        <p:nvSpPr>
          <p:cNvPr id="4" name="Slide Number Placeholder 3"/>
          <p:cNvSpPr>
            <a:spLocks noGrp="1"/>
          </p:cNvSpPr>
          <p:nvPr>
            <p:ph type="sldNum" sz="quarter" idx="10"/>
          </p:nvPr>
        </p:nvSpPr>
        <p:spPr/>
        <p:txBody>
          <a:bodyPr/>
          <a:lstStyle/>
          <a:p>
            <a:fld id="{EDDC7280-BADE-4673-A0B2-506575D9E488}" type="slidenum">
              <a:rPr lang="en-US" smtClean="0"/>
              <a:t>9</a:t>
            </a:fld>
            <a:endParaRPr lang="en-US"/>
          </a:p>
        </p:txBody>
      </p:sp>
    </p:spTree>
    <p:extLst>
      <p:ext uri="{BB962C8B-B14F-4D97-AF65-F5344CB8AC3E}">
        <p14:creationId xmlns:p14="http://schemas.microsoft.com/office/powerpoint/2010/main" val="2946311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DDC7280-BADE-4673-A0B2-506575D9E488}" type="slidenum">
              <a:rPr lang="en-US" smtClean="0"/>
              <a:t>19</a:t>
            </a:fld>
            <a:endParaRPr lang="en-US"/>
          </a:p>
        </p:txBody>
      </p:sp>
    </p:spTree>
    <p:extLst>
      <p:ext uri="{BB962C8B-B14F-4D97-AF65-F5344CB8AC3E}">
        <p14:creationId xmlns:p14="http://schemas.microsoft.com/office/powerpoint/2010/main" val="3427151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DDC7280-BADE-4673-A0B2-506575D9E488}" type="slidenum">
              <a:rPr lang="en-US" smtClean="0"/>
              <a:t>20</a:t>
            </a:fld>
            <a:endParaRPr lang="en-US"/>
          </a:p>
        </p:txBody>
      </p:sp>
    </p:spTree>
    <p:extLst>
      <p:ext uri="{BB962C8B-B14F-4D97-AF65-F5344CB8AC3E}">
        <p14:creationId xmlns:p14="http://schemas.microsoft.com/office/powerpoint/2010/main" val="2084357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DC7280-BADE-4673-A0B2-506575D9E488}" type="slidenum">
              <a:rPr lang="en-US" smtClean="0"/>
              <a:t>21</a:t>
            </a:fld>
            <a:endParaRPr lang="en-US"/>
          </a:p>
        </p:txBody>
      </p:sp>
    </p:spTree>
    <p:extLst>
      <p:ext uri="{BB962C8B-B14F-4D97-AF65-F5344CB8AC3E}">
        <p14:creationId xmlns:p14="http://schemas.microsoft.com/office/powerpoint/2010/main" val="1939773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DC7280-BADE-4673-A0B2-506575D9E488}" type="slidenum">
              <a:rPr lang="en-US" smtClean="0"/>
              <a:t>22</a:t>
            </a:fld>
            <a:endParaRPr lang="en-US"/>
          </a:p>
        </p:txBody>
      </p:sp>
    </p:spTree>
    <p:extLst>
      <p:ext uri="{BB962C8B-B14F-4D97-AF65-F5344CB8AC3E}">
        <p14:creationId xmlns:p14="http://schemas.microsoft.com/office/powerpoint/2010/main" val="1282970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6/18/2025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AC5EBDE-A8EE-6CD7-7715-06DB314F288F}"/>
              </a:ext>
            </a:extLst>
          </p:cNvPr>
          <p:cNvSpPr txBox="1"/>
          <p:nvPr userDrawn="1"/>
        </p:nvSpPr>
        <p:spPr>
          <a:xfrm>
            <a:off x="11430" y="64690"/>
            <a:ext cx="4775666" cy="369332"/>
          </a:xfrm>
          <a:prstGeom prst="rect">
            <a:avLst/>
          </a:prstGeom>
          <a:noFill/>
        </p:spPr>
        <p:txBody>
          <a:bodyPr wrap="none" rtlCol="0">
            <a:spAutoFit/>
          </a:bodyPr>
          <a:lstStyle/>
          <a:p>
            <a:r>
              <a:rPr lang="en-MY" dirty="0">
                <a:latin typeface="Times New Roman" panose="02020603050405020304" pitchFamily="18" charset="0"/>
                <a:cs typeface="Times New Roman" panose="02020603050405020304" pitchFamily="18" charset="0"/>
              </a:rPr>
              <a:t>BMSE3013 Software Evolution and Maintenance</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04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6/18/2025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7" name="TextBox 6">
            <a:extLst>
              <a:ext uri="{FF2B5EF4-FFF2-40B4-BE49-F238E27FC236}">
                <a16:creationId xmlns:a16="http://schemas.microsoft.com/office/drawing/2014/main" id="{A6A085DF-371D-6B1F-F66B-F5B18CA63ED5}"/>
              </a:ext>
            </a:extLst>
          </p:cNvPr>
          <p:cNvSpPr txBox="1"/>
          <p:nvPr userDrawn="1"/>
        </p:nvSpPr>
        <p:spPr>
          <a:xfrm>
            <a:off x="3810" y="20439"/>
            <a:ext cx="4775666" cy="369332"/>
          </a:xfrm>
          <a:prstGeom prst="rect">
            <a:avLst/>
          </a:prstGeom>
          <a:noFill/>
        </p:spPr>
        <p:txBody>
          <a:bodyPr wrap="none" rtlCol="0">
            <a:spAutoFit/>
          </a:bodyPr>
          <a:lstStyle/>
          <a:p>
            <a:r>
              <a:rPr lang="en-MY" dirty="0">
                <a:latin typeface="Times New Roman" panose="02020603050405020304" pitchFamily="18" charset="0"/>
                <a:cs typeface="Times New Roman" panose="02020603050405020304" pitchFamily="18" charset="0"/>
              </a:rPr>
              <a:t>BMSE3013 Software Evolution and Maintenance</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149351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6/18/2025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CE6F85F-9FAA-BB71-47C0-324BDFC89A82}"/>
              </a:ext>
            </a:extLst>
          </p:cNvPr>
          <p:cNvSpPr txBox="1"/>
          <p:nvPr userDrawn="1"/>
        </p:nvSpPr>
        <p:spPr>
          <a:xfrm>
            <a:off x="34290" y="30400"/>
            <a:ext cx="4570482" cy="369332"/>
          </a:xfrm>
          <a:prstGeom prst="rect">
            <a:avLst/>
          </a:prstGeom>
          <a:noFill/>
        </p:spPr>
        <p:txBody>
          <a:bodyPr wrap="none" rtlCol="0">
            <a:spAutoFit/>
          </a:bodyPr>
          <a:lstStyle/>
          <a:p>
            <a:r>
              <a:rPr lang="en-MY" dirty="0">
                <a:latin typeface="Times New Roman" panose="02020603050405020304" pitchFamily="18" charset="0"/>
                <a:cs typeface="Times New Roman" panose="02020603050405020304" pitchFamily="18" charset="0"/>
              </a:rPr>
              <a:t>BSE3013 Software Evolution and Maintenance</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5190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AD347D-5ACD-4C99-B74B-A9C85AD731AF}" type="datetimeFigureOut">
              <a:rPr lang="en-US" smtClean="0"/>
              <a:t>6/18/2025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8596014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6/18/2025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47722304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6/18/2025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74246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509A250-FF31-4206-8172-F9D3106AACB1}" type="datetimeFigureOut">
              <a:rPr lang="en-US" smtClean="0"/>
              <a:t>6/18/2025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21996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AAD347D-5ACD-4C99-B74B-A9C85AD731AF}" type="datetimeFigureOut">
              <a:rPr lang="en-US" smtClean="0"/>
              <a:t>6/18/2025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79264551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6/18/2025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87389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6/18/2025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0810660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6/18/2025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0784340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AAD347D-5ACD-4C99-B74B-A9C85AD731AF}" type="datetimeFigureOut">
              <a:rPr lang="en-US" smtClean="0"/>
              <a:t>6/18/2025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02111984F565}"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8305817"/>
      </p:ext>
    </p:extLst>
  </p:cSld>
  <p:clrMap bg1="lt1" tx1="dk1" bg2="lt2" tx2="dk2" accent1="accent1" accent2="accent2" accent3="accent3" accent4="accent4" accent5="accent5" accent6="accent6" hlink="hlink" folHlink="folHlink"/>
  <p:sldLayoutIdLst>
    <p:sldLayoutId id="2147484244" r:id="rId1"/>
    <p:sldLayoutId id="2147484245" r:id="rId2"/>
    <p:sldLayoutId id="2147484246" r:id="rId3"/>
    <p:sldLayoutId id="2147484247" r:id="rId4"/>
    <p:sldLayoutId id="2147484248" r:id="rId5"/>
    <p:sldLayoutId id="2147484249" r:id="rId6"/>
    <p:sldLayoutId id="2147484250" r:id="rId7"/>
    <p:sldLayoutId id="2147484251" r:id="rId8"/>
    <p:sldLayoutId id="2147484252" r:id="rId9"/>
    <p:sldLayoutId id="2147484253" r:id="rId10"/>
    <p:sldLayoutId id="2147484254"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ebokwiki.org/Chapter_5:_Software_Maintenanc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ebokwiki.org/Chapter_5:_Software_Maintenanc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ebokwiki.org/Chapter_5:_Software_Maintenanc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ebokwiki.org/Chapter_5:_Software_Maintenanc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12520" y="2426228"/>
            <a:ext cx="10130195" cy="1086237"/>
          </a:xfrm>
        </p:spPr>
        <p:txBody>
          <a:bodyPr>
            <a:noAutofit/>
          </a:bodyPr>
          <a:lstStyle/>
          <a:p>
            <a:r>
              <a:rPr lang="en-US" sz="3200" b="1" dirty="0">
                <a:solidFill>
                  <a:schemeClr val="tx1"/>
                </a:solidFill>
                <a:latin typeface="Times New Roman" panose="02020603050405020304" pitchFamily="18" charset="0"/>
                <a:cs typeface="Times New Roman" panose="02020603050405020304" pitchFamily="18" charset="0"/>
              </a:rPr>
              <a:t>Taxonomy of Software Maintenance</a:t>
            </a:r>
          </a:p>
        </p:txBody>
      </p:sp>
      <p:sp>
        <p:nvSpPr>
          <p:cNvPr id="4" name="Title 1"/>
          <p:cNvSpPr txBox="1">
            <a:spLocks/>
          </p:cNvSpPr>
          <p:nvPr/>
        </p:nvSpPr>
        <p:spPr>
          <a:xfrm>
            <a:off x="1112520" y="1334535"/>
            <a:ext cx="9966960" cy="603524"/>
          </a:xfrm>
          <a:prstGeom prst="rect">
            <a:avLst/>
          </a:prstGeom>
        </p:spPr>
        <p:txBody>
          <a:bodyPr vert="horz" lIns="91440" tIns="45720" rIns="91440" bIns="45720" rtlCol="0" anchor="b">
            <a:noAutofit/>
          </a:bodyPr>
          <a:lstStyle>
            <a:lvl1pPr algn="ctr" defTabSz="914400" rtl="0" eaLnBrk="1" latinLnBrk="0" hangingPunct="1">
              <a:lnSpc>
                <a:spcPct val="85000"/>
              </a:lnSpc>
              <a:spcBef>
                <a:spcPct val="0"/>
              </a:spcBef>
              <a:buNone/>
              <a:defRPr sz="7200" b="1" kern="1200" cap="all" baseline="0">
                <a:solidFill>
                  <a:srgbClr val="FFFFFF"/>
                </a:solidFill>
                <a:latin typeface="+mj-lt"/>
                <a:ea typeface="+mj-ea"/>
                <a:cs typeface="+mj-cs"/>
              </a:defRPr>
            </a:lvl1pPr>
          </a:lstStyle>
          <a:p>
            <a:r>
              <a:rPr lang="en-US" sz="2800" dirty="0">
                <a:solidFill>
                  <a:schemeClr val="tx1"/>
                </a:solidFill>
                <a:latin typeface="Times New Roman" panose="02020603050405020304" pitchFamily="18" charset="0"/>
                <a:cs typeface="Times New Roman" panose="02020603050405020304" pitchFamily="18" charset="0"/>
              </a:rPr>
              <a:t>CHAPTER 2</a:t>
            </a:r>
          </a:p>
        </p:txBody>
      </p:sp>
    </p:spTree>
    <p:extLst>
      <p:ext uri="{BB962C8B-B14F-4D97-AF65-F5344CB8AC3E}">
        <p14:creationId xmlns:p14="http://schemas.microsoft.com/office/powerpoint/2010/main" val="2420863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2272B-3BB9-4025-8486-2C312234DA50}"/>
              </a:ext>
            </a:extLst>
          </p:cNvPr>
          <p:cNvSpPr>
            <a:spLocks noGrp="1"/>
          </p:cNvSpPr>
          <p:nvPr>
            <p:ph type="title"/>
          </p:nvPr>
        </p:nvSpPr>
        <p:spPr>
          <a:xfrm>
            <a:off x="1095323" y="1226634"/>
            <a:ext cx="10402700" cy="574552"/>
          </a:xfrm>
        </p:spPr>
        <p:txBody>
          <a:bodyPr>
            <a:normAutofit/>
          </a:bodyPr>
          <a:lstStyle/>
          <a:p>
            <a:r>
              <a:rPr lang="en-MY" sz="3200" b="1" dirty="0">
                <a:solidFill>
                  <a:schemeClr val="tx1"/>
                </a:solidFill>
                <a:latin typeface="Times New Roman" panose="02020603050405020304" pitchFamily="18" charset="0"/>
                <a:cs typeface="Times New Roman" panose="02020603050405020304" pitchFamily="18" charset="0"/>
              </a:rPr>
              <a:t>Key characteristics of maintenance activities</a:t>
            </a:r>
          </a:p>
        </p:txBody>
      </p:sp>
      <p:sp>
        <p:nvSpPr>
          <p:cNvPr id="3" name="Content Placeholder 2">
            <a:extLst>
              <a:ext uri="{FF2B5EF4-FFF2-40B4-BE49-F238E27FC236}">
                <a16:creationId xmlns:a16="http://schemas.microsoft.com/office/drawing/2014/main" id="{146856B2-A381-4A65-BA71-2050ECEFFA57}"/>
              </a:ext>
            </a:extLst>
          </p:cNvPr>
          <p:cNvSpPr>
            <a:spLocks noGrp="1"/>
          </p:cNvSpPr>
          <p:nvPr>
            <p:ph idx="1"/>
          </p:nvPr>
        </p:nvSpPr>
        <p:spPr>
          <a:xfrm>
            <a:off x="1206835" y="2011234"/>
            <a:ext cx="10636097" cy="3300946"/>
          </a:xfrm>
        </p:spPr>
        <p:txBody>
          <a:bodyPr>
            <a:normAutofit/>
          </a:bodyPr>
          <a:lstStyle/>
          <a:p>
            <a:pPr algn="just">
              <a:buFont typeface="Arial" panose="020B0604020202020204" pitchFamily="34" charset="0"/>
              <a:buChar char="•"/>
            </a:pPr>
            <a:r>
              <a:rPr lang="en-US" sz="2400" b="0" i="0" dirty="0">
                <a:solidFill>
                  <a:schemeClr val="tx1"/>
                </a:solidFill>
                <a:effectLst/>
                <a:latin typeface="Times New Roman" panose="02020603050405020304" pitchFamily="18" charset="0"/>
                <a:cs typeface="Times New Roman" panose="02020603050405020304" pitchFamily="18" charset="0"/>
              </a:rPr>
              <a:t>keeping an eye on the software's day-to-day operations</a:t>
            </a:r>
          </a:p>
          <a:p>
            <a:pPr algn="just">
              <a:buFont typeface="Arial" panose="020B0604020202020204" pitchFamily="34" charset="0"/>
              <a:buChar char="•"/>
            </a:pPr>
            <a:r>
              <a:rPr lang="en-US" sz="2400" b="0" i="0" dirty="0">
                <a:solidFill>
                  <a:schemeClr val="tx1"/>
                </a:solidFill>
                <a:effectLst/>
                <a:latin typeface="Times New Roman" panose="02020603050405020304" pitchFamily="18" charset="0"/>
                <a:cs typeface="Times New Roman" panose="02020603050405020304" pitchFamily="18" charset="0"/>
              </a:rPr>
              <a:t>keeping software changes under control.</a:t>
            </a:r>
          </a:p>
          <a:p>
            <a:pPr algn="just">
              <a:buFont typeface="Arial" panose="020B0604020202020204" pitchFamily="34" charset="0"/>
              <a:buChar char="•"/>
            </a:pPr>
            <a:r>
              <a:rPr lang="en-US" sz="2400" b="0" i="0" dirty="0">
                <a:solidFill>
                  <a:schemeClr val="tx1"/>
                </a:solidFill>
                <a:effectLst/>
                <a:latin typeface="Times New Roman" panose="02020603050405020304" pitchFamily="18" charset="0"/>
                <a:cs typeface="Times New Roman" panose="02020603050405020304" pitchFamily="18" charset="0"/>
              </a:rPr>
              <a:t>improve the software's current functions</a:t>
            </a:r>
          </a:p>
          <a:p>
            <a:pPr algn="just">
              <a:buFont typeface="Arial" panose="020B0604020202020204" pitchFamily="34" charset="0"/>
              <a:buChar char="•"/>
            </a:pPr>
            <a:r>
              <a:rPr lang="en-US" sz="2400" b="0" i="0" dirty="0">
                <a:solidFill>
                  <a:schemeClr val="tx1"/>
                </a:solidFill>
                <a:effectLst/>
                <a:latin typeface="Times New Roman" panose="02020603050405020304" pitchFamily="18" charset="0"/>
                <a:cs typeface="Times New Roman" panose="02020603050405020304" pitchFamily="18" charset="0"/>
              </a:rPr>
              <a:t>threats to security are identified, and security flaws are fixed.</a:t>
            </a:r>
          </a:p>
          <a:p>
            <a:pPr algn="just">
              <a:buFont typeface="Arial" panose="020B0604020202020204" pitchFamily="34" charset="0"/>
              <a:buChar char="•"/>
            </a:pPr>
            <a:r>
              <a:rPr lang="en-US" sz="2400" b="0" i="0" dirty="0">
                <a:solidFill>
                  <a:schemeClr val="tx1"/>
                </a:solidFill>
                <a:effectLst/>
                <a:latin typeface="Times New Roman" panose="02020603050405020304" pitchFamily="18" charset="0"/>
                <a:cs typeface="Times New Roman" panose="02020603050405020304" pitchFamily="18" charset="0"/>
              </a:rPr>
              <a:t>preventing software performance from deteriorating to unacceptable levels</a:t>
            </a:r>
            <a:endParaRPr lang="en-MY" sz="24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85FAC91-7966-43A3-970B-7C5BAAB8233E}"/>
              </a:ext>
            </a:extLst>
          </p:cNvPr>
          <p:cNvSpPr txBox="1"/>
          <p:nvPr/>
        </p:nvSpPr>
        <p:spPr>
          <a:xfrm>
            <a:off x="5552899" y="5867916"/>
            <a:ext cx="7249037" cy="369332"/>
          </a:xfrm>
          <a:prstGeom prst="rect">
            <a:avLst/>
          </a:prstGeom>
          <a:noFill/>
        </p:spPr>
        <p:txBody>
          <a:bodyPr wrap="square">
            <a:spAutoFit/>
          </a:bodyPr>
          <a:lstStyle/>
          <a:p>
            <a:r>
              <a:rPr lang="en-MY" dirty="0">
                <a:latin typeface="Times New Roman" panose="02020603050405020304" pitchFamily="18" charset="0"/>
                <a:cs typeface="Times New Roman" panose="02020603050405020304" pitchFamily="18" charset="0"/>
              </a:rPr>
              <a:t>Source : http://swebokwiki.org/Chapter_5:_Software_Maintenance</a:t>
            </a:r>
          </a:p>
        </p:txBody>
      </p:sp>
    </p:spTree>
    <p:extLst>
      <p:ext uri="{BB962C8B-B14F-4D97-AF65-F5344CB8AC3E}">
        <p14:creationId xmlns:p14="http://schemas.microsoft.com/office/powerpoint/2010/main" val="1590047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649D4-136B-4AD2-87B2-676171E28332}"/>
              </a:ext>
            </a:extLst>
          </p:cNvPr>
          <p:cNvSpPr>
            <a:spLocks noGrp="1"/>
          </p:cNvSpPr>
          <p:nvPr>
            <p:ph type="title"/>
          </p:nvPr>
        </p:nvSpPr>
        <p:spPr>
          <a:xfrm>
            <a:off x="1081668" y="434340"/>
            <a:ext cx="9061314" cy="1325562"/>
          </a:xfrm>
        </p:spPr>
        <p:txBody>
          <a:bodyPr>
            <a:normAutofit/>
          </a:bodyPr>
          <a:lstStyle/>
          <a:p>
            <a:r>
              <a:rPr lang="en-US" altLang="zh-CN" sz="3200" b="1" dirty="0">
                <a:latin typeface="Times New Roman" panose="02020603050405020304" pitchFamily="18" charset="0"/>
                <a:cs typeface="Times New Roman" panose="02020603050405020304" pitchFamily="18" charset="0"/>
              </a:rPr>
              <a:t>Characteristics </a:t>
            </a:r>
            <a:r>
              <a:rPr lang="en-MY" altLang="zh-CN" sz="3200" b="1" dirty="0">
                <a:latin typeface="Times New Roman" panose="02020603050405020304" pitchFamily="18" charset="0"/>
                <a:cs typeface="Times New Roman" panose="02020603050405020304" pitchFamily="18" charset="0"/>
              </a:rPr>
              <a:t>of </a:t>
            </a:r>
            <a:r>
              <a:rPr lang="en-US" altLang="zh-CN" sz="3200" b="1" dirty="0">
                <a:latin typeface="Times New Roman" panose="02020603050405020304" pitchFamily="18" charset="0"/>
                <a:cs typeface="Times New Roman" panose="02020603050405020304" pitchFamily="18" charset="0"/>
              </a:rPr>
              <a:t>Software Maintenance </a:t>
            </a:r>
            <a:endParaRPr lang="en-MY"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1ADE98-0D47-4247-9854-49FE0CE02D2F}"/>
              </a:ext>
            </a:extLst>
          </p:cNvPr>
          <p:cNvSpPr>
            <a:spLocks noGrp="1"/>
          </p:cNvSpPr>
          <p:nvPr>
            <p:ph idx="1"/>
          </p:nvPr>
        </p:nvSpPr>
        <p:spPr>
          <a:xfrm>
            <a:off x="1192048" y="1938597"/>
            <a:ext cx="9948020" cy="3880773"/>
          </a:xfrm>
        </p:spPr>
        <p:txBody>
          <a:bodyPr>
            <a:noAutofit/>
          </a:bodyPr>
          <a:lstStyle/>
          <a:p>
            <a:pPr marL="0" indent="0">
              <a:buNone/>
            </a:pPr>
            <a:r>
              <a:rPr lang="en-US" sz="2400" b="1" dirty="0">
                <a:solidFill>
                  <a:schemeClr val="tx1"/>
                </a:solidFill>
                <a:latin typeface="Times New Roman" panose="02020603050405020304" pitchFamily="18" charset="0"/>
                <a:cs typeface="Times New Roman" panose="02020603050405020304" pitchFamily="18" charset="0"/>
              </a:rPr>
              <a:t>Constraints of an existing system. </a:t>
            </a:r>
          </a:p>
          <a:p>
            <a:pPr marL="45720" indent="0">
              <a:buNone/>
            </a:pPr>
            <a:r>
              <a:rPr lang="en-US" sz="2400" dirty="0">
                <a:solidFill>
                  <a:schemeClr val="tx1"/>
                </a:solidFill>
                <a:latin typeface="Times New Roman" panose="02020603050405020304" pitchFamily="18" charset="0"/>
                <a:cs typeface="Times New Roman" panose="02020603050405020304" pitchFamily="18" charset="0"/>
              </a:rPr>
              <a:t>On an operational system, maintenance is carried out. As a result, all changes must be compatible with the existing software architecture, design, and code limitations. </a:t>
            </a:r>
          </a:p>
          <a:p>
            <a:pPr marL="45720"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buNone/>
            </a:pPr>
            <a:r>
              <a:rPr lang="en-US" sz="2400" b="1" dirty="0">
                <a:solidFill>
                  <a:schemeClr val="tx1"/>
                </a:solidFill>
                <a:latin typeface="Times New Roman" panose="02020603050405020304" pitchFamily="18" charset="0"/>
                <a:cs typeface="Times New Roman" panose="02020603050405020304" pitchFamily="18" charset="0"/>
              </a:rPr>
              <a:t>Shorter time frame. </a:t>
            </a:r>
          </a:p>
          <a:p>
            <a:pPr marL="45720" indent="0">
              <a:buNone/>
            </a:pPr>
            <a:r>
              <a:rPr lang="en-US" sz="2400" dirty="0">
                <a:solidFill>
                  <a:schemeClr val="tx1"/>
                </a:solidFill>
                <a:latin typeface="Times New Roman" panose="02020603050405020304" pitchFamily="18" charset="0"/>
                <a:cs typeface="Times New Roman" panose="02020603050405020304" pitchFamily="18" charset="0"/>
              </a:rPr>
              <a:t>Maintenance activities might last anywhere from a few hours to many months, but software creation can take up to a year.</a:t>
            </a:r>
          </a:p>
        </p:txBody>
      </p:sp>
    </p:spTree>
    <p:extLst>
      <p:ext uri="{BB962C8B-B14F-4D97-AF65-F5344CB8AC3E}">
        <p14:creationId xmlns:p14="http://schemas.microsoft.com/office/powerpoint/2010/main" val="165574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649D4-136B-4AD2-87B2-676171E28332}"/>
              </a:ext>
            </a:extLst>
          </p:cNvPr>
          <p:cNvSpPr>
            <a:spLocks noGrp="1"/>
          </p:cNvSpPr>
          <p:nvPr>
            <p:ph type="title"/>
          </p:nvPr>
        </p:nvSpPr>
        <p:spPr>
          <a:xfrm>
            <a:off x="1081668" y="434340"/>
            <a:ext cx="9061314" cy="1325562"/>
          </a:xfrm>
        </p:spPr>
        <p:txBody>
          <a:bodyPr>
            <a:normAutofit/>
          </a:bodyPr>
          <a:lstStyle/>
          <a:p>
            <a:r>
              <a:rPr lang="en-US" altLang="zh-CN" sz="3200" b="1" dirty="0">
                <a:latin typeface="Times New Roman" panose="02020603050405020304" pitchFamily="18" charset="0"/>
                <a:cs typeface="Times New Roman" panose="02020603050405020304" pitchFamily="18" charset="0"/>
              </a:rPr>
              <a:t>Characteristics </a:t>
            </a:r>
            <a:r>
              <a:rPr lang="en-MY" altLang="zh-CN" sz="3200" b="1" dirty="0">
                <a:latin typeface="Times New Roman" panose="02020603050405020304" pitchFamily="18" charset="0"/>
                <a:cs typeface="Times New Roman" panose="02020603050405020304" pitchFamily="18" charset="0"/>
              </a:rPr>
              <a:t>of </a:t>
            </a:r>
            <a:r>
              <a:rPr lang="en-US" altLang="zh-CN" sz="3200" b="1" dirty="0">
                <a:latin typeface="Times New Roman" panose="02020603050405020304" pitchFamily="18" charset="0"/>
                <a:cs typeface="Times New Roman" panose="02020603050405020304" pitchFamily="18" charset="0"/>
              </a:rPr>
              <a:t>Software Maintenance </a:t>
            </a:r>
            <a:endParaRPr lang="en-MY"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1ADE98-0D47-4247-9854-49FE0CE02D2F}"/>
              </a:ext>
            </a:extLst>
          </p:cNvPr>
          <p:cNvSpPr>
            <a:spLocks noGrp="1"/>
          </p:cNvSpPr>
          <p:nvPr>
            <p:ph idx="1"/>
          </p:nvPr>
        </p:nvSpPr>
        <p:spPr>
          <a:xfrm>
            <a:off x="1192048" y="1938597"/>
            <a:ext cx="9948020" cy="3880773"/>
          </a:xfrm>
        </p:spPr>
        <p:txBody>
          <a:bodyPr>
            <a:noAutofit/>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Available test data. </a:t>
            </a:r>
          </a:p>
          <a:p>
            <a:pPr marL="45720" indent="0" algn="just">
              <a:buNone/>
            </a:pPr>
            <a:r>
              <a:rPr lang="en-US" sz="2400" dirty="0">
                <a:solidFill>
                  <a:schemeClr val="tx1"/>
                </a:solidFill>
                <a:latin typeface="Times New Roman" panose="02020603050405020304" pitchFamily="18" charset="0"/>
                <a:cs typeface="Times New Roman" panose="02020603050405020304" pitchFamily="18" charset="0"/>
              </a:rPr>
              <a:t>Test cases are created from scratch during software development, however software maintenance can choose a portion of these test cases and run the mas regression tests. As a result, selecting acceptable test cases from the existing test suite is a hurdle. To effectively test the code changes, in addition to the regression test cases, new test cases must be written.</a:t>
            </a:r>
            <a:endParaRPr lang="en-MY" sz="2400" dirty="0">
              <a:solidFill>
                <a:schemeClr val="tx1"/>
              </a:solidFill>
            </a:endParaRPr>
          </a:p>
        </p:txBody>
      </p:sp>
    </p:spTree>
    <p:extLst>
      <p:ext uri="{BB962C8B-B14F-4D97-AF65-F5344CB8AC3E}">
        <p14:creationId xmlns:p14="http://schemas.microsoft.com/office/powerpoint/2010/main" val="2257768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Intention-based classification  </a:t>
            </a:r>
            <a:endParaRPr lang="en-US" sz="3200" b="1" dirty="0"/>
          </a:p>
        </p:txBody>
      </p:sp>
      <p:sp>
        <p:nvSpPr>
          <p:cNvPr id="3" name="Content Placeholder 2"/>
          <p:cNvSpPr>
            <a:spLocks noGrp="1"/>
          </p:cNvSpPr>
          <p:nvPr>
            <p:ph idx="1"/>
          </p:nvPr>
        </p:nvSpPr>
        <p:spPr>
          <a:xfrm>
            <a:off x="1097280" y="2026014"/>
            <a:ext cx="10018714" cy="3880773"/>
          </a:xfrm>
        </p:spPr>
        <p:txBody>
          <a:bodyPr>
            <a:normAutofit/>
          </a:bodyPr>
          <a:lstStyle/>
          <a:p>
            <a:pPr marL="45720" indent="0">
              <a:buNone/>
            </a:pPr>
            <a:r>
              <a:rPr lang="en-US" sz="2400" dirty="0">
                <a:latin typeface="Times New Roman" panose="02020603050405020304" pitchFamily="18" charset="0"/>
                <a:cs typeface="Times New Roman" panose="02020603050405020304" pitchFamily="18" charset="0"/>
              </a:rPr>
              <a:t>According to ISO/IEC 14764, the categories of software maintenance are:</a:t>
            </a:r>
          </a:p>
          <a:p>
            <a:r>
              <a:rPr lang="en-US" sz="2400" dirty="0">
                <a:latin typeface="Times New Roman" panose="02020603050405020304" pitchFamily="18" charset="0"/>
                <a:cs typeface="Times New Roman" panose="02020603050405020304" pitchFamily="18" charset="0"/>
              </a:rPr>
              <a:t>Corrective</a:t>
            </a:r>
          </a:p>
          <a:p>
            <a:r>
              <a:rPr lang="en-US" sz="2400" dirty="0">
                <a:latin typeface="Times New Roman" panose="02020603050405020304" pitchFamily="18" charset="0"/>
                <a:cs typeface="Times New Roman" panose="02020603050405020304" pitchFamily="18" charset="0"/>
              </a:rPr>
              <a:t>Adaptive</a:t>
            </a:r>
          </a:p>
          <a:p>
            <a:r>
              <a:rPr lang="en-US" sz="2400" dirty="0">
                <a:latin typeface="Times New Roman" panose="02020603050405020304" pitchFamily="18" charset="0"/>
                <a:cs typeface="Times New Roman" panose="02020603050405020304" pitchFamily="18" charset="0"/>
              </a:rPr>
              <a:t>Perfective</a:t>
            </a:r>
          </a:p>
          <a:p>
            <a:r>
              <a:rPr lang="en-US" sz="2400" dirty="0">
                <a:latin typeface="Times New Roman" panose="02020603050405020304" pitchFamily="18" charset="0"/>
                <a:cs typeface="Times New Roman" panose="02020603050405020304" pitchFamily="18" charset="0"/>
              </a:rPr>
              <a:t>Preventive</a:t>
            </a:r>
          </a:p>
        </p:txBody>
      </p:sp>
      <p:sp>
        <p:nvSpPr>
          <p:cNvPr id="6" name="TextBox 5">
            <a:extLst>
              <a:ext uri="{FF2B5EF4-FFF2-40B4-BE49-F238E27FC236}">
                <a16:creationId xmlns:a16="http://schemas.microsoft.com/office/drawing/2014/main" id="{2DB250B1-23B1-4139-89C9-397645F9CDC0}"/>
              </a:ext>
            </a:extLst>
          </p:cNvPr>
          <p:cNvSpPr txBox="1"/>
          <p:nvPr/>
        </p:nvSpPr>
        <p:spPr>
          <a:xfrm>
            <a:off x="5374887" y="5900808"/>
            <a:ext cx="6432365" cy="369332"/>
          </a:xfrm>
          <a:prstGeom prst="rect">
            <a:avLst/>
          </a:prstGeom>
          <a:noFill/>
        </p:spPr>
        <p:txBody>
          <a:bodyPr wrap="square">
            <a:spAutoFit/>
          </a:bodyPr>
          <a:lstStyle/>
          <a:p>
            <a:r>
              <a:rPr lang="en-MY" dirty="0">
                <a:latin typeface="Times New Roman" panose="02020603050405020304" pitchFamily="18" charset="0"/>
                <a:cs typeface="Times New Roman" panose="02020603050405020304" pitchFamily="18" charset="0"/>
              </a:rPr>
              <a:t>Source : http://swebokwiki.org/Chapter_5:_Software_Maintenance</a:t>
            </a:r>
          </a:p>
        </p:txBody>
      </p:sp>
    </p:spTree>
    <p:extLst>
      <p:ext uri="{BB962C8B-B14F-4D97-AF65-F5344CB8AC3E}">
        <p14:creationId xmlns:p14="http://schemas.microsoft.com/office/powerpoint/2010/main" val="3928607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81307"/>
            <a:ext cx="10058400" cy="756053"/>
          </a:xfrm>
        </p:spPr>
        <p:txBody>
          <a:bodyPr>
            <a:normAutofit/>
          </a:bodyPr>
          <a:lstStyle/>
          <a:p>
            <a:r>
              <a:rPr lang="en-US" sz="3200" b="1" dirty="0">
                <a:latin typeface="Times New Roman" panose="02020603050405020304" pitchFamily="18" charset="0"/>
                <a:cs typeface="Times New Roman" panose="02020603050405020304" pitchFamily="18" charset="0"/>
              </a:rPr>
              <a:t>Intention-based classification </a:t>
            </a:r>
            <a:endParaRPr lang="en-US" sz="3200" b="1" dirty="0"/>
          </a:p>
        </p:txBody>
      </p:sp>
      <p:sp>
        <p:nvSpPr>
          <p:cNvPr id="3" name="Content Placeholder 2"/>
          <p:cNvSpPr>
            <a:spLocks noGrp="1"/>
          </p:cNvSpPr>
          <p:nvPr>
            <p:ph idx="1"/>
          </p:nvPr>
        </p:nvSpPr>
        <p:spPr>
          <a:xfrm>
            <a:off x="1284135" y="2160589"/>
            <a:ext cx="9623730" cy="3880773"/>
          </a:xfrm>
        </p:spPr>
        <p:txBody>
          <a:bodyPr>
            <a:normAutofit/>
          </a:bodyPr>
          <a:lstStyle/>
          <a:p>
            <a:pPr marL="45720" indent="0">
              <a:buNone/>
            </a:pPr>
            <a:r>
              <a:rPr lang="en-US" sz="2400" dirty="0">
                <a:latin typeface="Times New Roman" panose="02020603050405020304" pitchFamily="18" charset="0"/>
                <a:cs typeface="Times New Roman" panose="02020603050405020304" pitchFamily="18" charset="0"/>
              </a:rPr>
              <a:t>Corrective maintenance. </a:t>
            </a:r>
          </a:p>
          <a:p>
            <a:r>
              <a:rPr lang="en-US" sz="2400" dirty="0">
                <a:latin typeface="Times New Roman" panose="02020603050405020304" pitchFamily="18" charset="0"/>
                <a:cs typeface="Times New Roman" panose="02020603050405020304" pitchFamily="18" charset="0"/>
              </a:rPr>
              <a:t>React to problems that are uncovered. Unplanned (unscheduled) software maintenance is also required to allow the software to function.</a:t>
            </a:r>
          </a:p>
        </p:txBody>
      </p:sp>
      <p:sp>
        <p:nvSpPr>
          <p:cNvPr id="4" name="TextBox 3">
            <a:extLst>
              <a:ext uri="{FF2B5EF4-FFF2-40B4-BE49-F238E27FC236}">
                <a16:creationId xmlns:a16="http://schemas.microsoft.com/office/drawing/2014/main" id="{44504DF1-C38F-4391-8E12-EF3908B25DEB}"/>
              </a:ext>
            </a:extLst>
          </p:cNvPr>
          <p:cNvSpPr txBox="1"/>
          <p:nvPr/>
        </p:nvSpPr>
        <p:spPr>
          <a:xfrm>
            <a:off x="4600055" y="5672030"/>
            <a:ext cx="6570865" cy="369332"/>
          </a:xfrm>
          <a:prstGeom prst="rect">
            <a:avLst/>
          </a:prstGeom>
          <a:noFill/>
        </p:spPr>
        <p:txBody>
          <a:bodyPr wrap="square">
            <a:spAutoFit/>
          </a:bodyPr>
          <a:lstStyle/>
          <a:p>
            <a:r>
              <a:rPr lang="en-MY"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Source : http://swebokwiki.org/Chapter_5:_Software_Maintenance</a:t>
            </a:r>
            <a:endParaRPr lang="en-M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0448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Intention-based classification </a:t>
            </a:r>
            <a:endParaRPr lang="en-US" sz="3200" b="1" dirty="0"/>
          </a:p>
        </p:txBody>
      </p:sp>
      <p:sp>
        <p:nvSpPr>
          <p:cNvPr id="3" name="Content Placeholder 2"/>
          <p:cNvSpPr>
            <a:spLocks noGrp="1"/>
          </p:cNvSpPr>
          <p:nvPr>
            <p:ph idx="1"/>
          </p:nvPr>
        </p:nvSpPr>
        <p:spPr>
          <a:xfrm>
            <a:off x="1142999" y="2062193"/>
            <a:ext cx="10184363" cy="2478066"/>
          </a:xfrm>
        </p:spPr>
        <p:txBody>
          <a:bodyPr>
            <a:normAutofit/>
          </a:bodyPr>
          <a:lstStyle/>
          <a:p>
            <a:pPr marL="45720" indent="0">
              <a:buNone/>
            </a:pPr>
            <a:r>
              <a:rPr lang="en-US" sz="2400" dirty="0">
                <a:latin typeface="Times New Roman" panose="02020603050405020304" pitchFamily="18" charset="0"/>
                <a:cs typeface="Times New Roman" panose="02020603050405020304" pitchFamily="18" charset="0"/>
              </a:rPr>
              <a:t>Adaptive maintenance. </a:t>
            </a:r>
          </a:p>
          <a:p>
            <a:r>
              <a:rPr lang="en-US" sz="2400" dirty="0">
                <a:latin typeface="Times New Roman" panose="02020603050405020304" pitchFamily="18" charset="0"/>
                <a:cs typeface="Times New Roman" panose="02020603050405020304" pitchFamily="18" charset="0"/>
              </a:rPr>
              <a:t>Maintain software usability in an ever-changing environment. For example, software modifications may be required as a result of an operating system upgrade.</a:t>
            </a:r>
          </a:p>
        </p:txBody>
      </p:sp>
      <p:sp>
        <p:nvSpPr>
          <p:cNvPr id="4" name="TextBox 3">
            <a:extLst>
              <a:ext uri="{FF2B5EF4-FFF2-40B4-BE49-F238E27FC236}">
                <a16:creationId xmlns:a16="http://schemas.microsoft.com/office/drawing/2014/main" id="{230FB7D0-A80A-46DA-A4ED-93823AF3A5D2}"/>
              </a:ext>
            </a:extLst>
          </p:cNvPr>
          <p:cNvSpPr txBox="1"/>
          <p:nvPr/>
        </p:nvSpPr>
        <p:spPr>
          <a:xfrm>
            <a:off x="5086174" y="5721100"/>
            <a:ext cx="6570865" cy="369332"/>
          </a:xfrm>
          <a:prstGeom prst="rect">
            <a:avLst/>
          </a:prstGeom>
          <a:noFill/>
        </p:spPr>
        <p:txBody>
          <a:bodyPr wrap="square">
            <a:spAutoFit/>
          </a:bodyPr>
          <a:lstStyle/>
          <a:p>
            <a:r>
              <a:rPr lang="en-MY"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Source : http://swebokwiki.org/Chapter_5:_Software_Maintenance</a:t>
            </a:r>
            <a:endParaRPr lang="en-M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3003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003610"/>
            <a:ext cx="10058400" cy="733750"/>
          </a:xfrm>
        </p:spPr>
        <p:txBody>
          <a:bodyPr>
            <a:normAutofit/>
          </a:bodyPr>
          <a:lstStyle/>
          <a:p>
            <a:r>
              <a:rPr lang="en-US" sz="3200" b="1" dirty="0">
                <a:latin typeface="Times New Roman" panose="02020603050405020304" pitchFamily="18" charset="0"/>
                <a:cs typeface="Times New Roman" panose="02020603050405020304" pitchFamily="18" charset="0"/>
              </a:rPr>
              <a:t>Intention-based classification </a:t>
            </a:r>
            <a:endParaRPr lang="en-US" sz="3200" b="1" dirty="0"/>
          </a:p>
        </p:txBody>
      </p:sp>
      <p:sp>
        <p:nvSpPr>
          <p:cNvPr id="3" name="Content Placeholder 2"/>
          <p:cNvSpPr>
            <a:spLocks noGrp="1"/>
          </p:cNvSpPr>
          <p:nvPr>
            <p:ph idx="1"/>
          </p:nvPr>
        </p:nvSpPr>
        <p:spPr>
          <a:xfrm>
            <a:off x="1204332" y="1984810"/>
            <a:ext cx="10391396" cy="3880773"/>
          </a:xfrm>
        </p:spPr>
        <p:txBody>
          <a:bodyPr>
            <a:normAutofit/>
          </a:bodyPr>
          <a:lstStyle/>
          <a:p>
            <a:pPr marL="45720" indent="0">
              <a:buNone/>
            </a:pPr>
            <a:r>
              <a:rPr lang="en-US" sz="2400" dirty="0">
                <a:latin typeface="Times New Roman" panose="02020603050405020304" pitchFamily="18" charset="0"/>
                <a:cs typeface="Times New Roman" panose="02020603050405020304" pitchFamily="18" charset="0"/>
              </a:rPr>
              <a:t>Perfective Maintenance</a:t>
            </a:r>
          </a:p>
          <a:p>
            <a:r>
              <a:rPr lang="en-US" sz="2400" dirty="0">
                <a:latin typeface="Times New Roman" panose="02020603050405020304" pitchFamily="18" charset="0"/>
                <a:cs typeface="Times New Roman" panose="02020603050405020304" pitchFamily="18" charset="0"/>
              </a:rPr>
              <a:t>The goal is to increase user experience, processing efficiency, and maintainability, among other things.</a:t>
            </a:r>
          </a:p>
          <a:p>
            <a:r>
              <a:rPr lang="en-US" sz="2400" dirty="0">
                <a:latin typeface="Times New Roman" panose="02020603050405020304" pitchFamily="18" charset="0"/>
                <a:cs typeface="Times New Roman" panose="02020603050405020304" pitchFamily="18" charset="0"/>
              </a:rPr>
              <a:t>For a better user experience, the </a:t>
            </a:r>
            <a:r>
              <a:rPr lang="en-US" sz="2400" dirty="0" err="1">
                <a:latin typeface="Times New Roman" panose="02020603050405020304" pitchFamily="18" charset="0"/>
                <a:cs typeface="Times New Roman" panose="02020603050405020304" pitchFamily="18" charset="0"/>
              </a:rPr>
              <a:t>programme</a:t>
            </a:r>
            <a:r>
              <a:rPr lang="en-US" sz="2400" dirty="0">
                <a:latin typeface="Times New Roman" panose="02020603050405020304" pitchFamily="18" charset="0"/>
                <a:cs typeface="Times New Roman" panose="02020603050405020304" pitchFamily="18" charset="0"/>
              </a:rPr>
              <a:t> outputs can be made more understandable; the </a:t>
            </a:r>
            <a:r>
              <a:rPr lang="en-US" sz="2400" dirty="0" err="1">
                <a:latin typeface="Times New Roman" panose="02020603050405020304" pitchFamily="18" charset="0"/>
                <a:cs typeface="Times New Roman" panose="02020603050405020304" pitchFamily="18" charset="0"/>
              </a:rPr>
              <a:t>programme</a:t>
            </a:r>
            <a:r>
              <a:rPr lang="en-US" sz="2400" dirty="0">
                <a:latin typeface="Times New Roman" panose="02020603050405020304" pitchFamily="18" charset="0"/>
                <a:cs typeface="Times New Roman" panose="02020603050405020304" pitchFamily="18" charset="0"/>
              </a:rPr>
              <a:t> can be updated to make it faster, hence enhancing processing efficiency.</a:t>
            </a:r>
          </a:p>
        </p:txBody>
      </p:sp>
      <p:sp>
        <p:nvSpPr>
          <p:cNvPr id="4" name="TextBox 3">
            <a:extLst>
              <a:ext uri="{FF2B5EF4-FFF2-40B4-BE49-F238E27FC236}">
                <a16:creationId xmlns:a16="http://schemas.microsoft.com/office/drawing/2014/main" id="{00933AD5-12D9-4DFA-B299-E9E0BABEC782}"/>
              </a:ext>
            </a:extLst>
          </p:cNvPr>
          <p:cNvSpPr txBox="1"/>
          <p:nvPr/>
        </p:nvSpPr>
        <p:spPr>
          <a:xfrm>
            <a:off x="4840085" y="5680917"/>
            <a:ext cx="6570865" cy="369332"/>
          </a:xfrm>
          <a:prstGeom prst="rect">
            <a:avLst/>
          </a:prstGeom>
          <a:noFill/>
        </p:spPr>
        <p:txBody>
          <a:bodyPr wrap="square">
            <a:spAutoFit/>
          </a:bodyPr>
          <a:lstStyle/>
          <a:p>
            <a:r>
              <a:rPr lang="en-MY"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Source : http://swebokwiki.org/Chapter_5:_Software_Maintenance</a:t>
            </a:r>
            <a:endParaRPr lang="en-M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2986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011267"/>
            <a:ext cx="10058400" cy="726093"/>
          </a:xfrm>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rPr>
              <a:t>Intention-based classification </a:t>
            </a:r>
            <a:endParaRPr lang="en-US" sz="3200" b="1" dirty="0">
              <a:solidFill>
                <a:schemeClr val="tx1"/>
              </a:solidFill>
            </a:endParaRPr>
          </a:p>
        </p:txBody>
      </p:sp>
      <p:sp>
        <p:nvSpPr>
          <p:cNvPr id="3" name="Content Placeholder 2"/>
          <p:cNvSpPr>
            <a:spLocks noGrp="1"/>
          </p:cNvSpPr>
          <p:nvPr>
            <p:ph idx="1"/>
          </p:nvPr>
        </p:nvSpPr>
        <p:spPr>
          <a:xfrm>
            <a:off x="1143000" y="1965960"/>
            <a:ext cx="9802673" cy="3880773"/>
          </a:xfrm>
        </p:spPr>
        <p:txBody>
          <a:bodyPr>
            <a:normAutofit/>
          </a:bodyPr>
          <a:lstStyle/>
          <a:p>
            <a:pPr marL="45720" indent="0">
              <a:buNone/>
            </a:pPr>
            <a:r>
              <a:rPr lang="en-US" sz="2400" dirty="0">
                <a:latin typeface="Times New Roman" panose="02020603050405020304" pitchFamily="18" charset="0"/>
                <a:cs typeface="Times New Roman" panose="02020603050405020304" pitchFamily="18" charset="0"/>
              </a:rPr>
              <a:t>Preventive maintenance</a:t>
            </a:r>
          </a:p>
          <a:p>
            <a:r>
              <a:rPr lang="en-US" altLang="zh-CN" sz="2400" dirty="0">
                <a:latin typeface="Times New Roman" panose="02020603050405020304" pitchFamily="18" charset="0"/>
                <a:cs typeface="Times New Roman" panose="02020603050405020304" pitchFamily="18" charset="0"/>
              </a:rPr>
              <a:t>After-sales modification of a software product to uncover and remedy fundamental flaws before they become operational flaws.</a:t>
            </a:r>
          </a:p>
          <a:p>
            <a:r>
              <a:rPr lang="en-US" sz="2400" dirty="0">
                <a:latin typeface="Times New Roman" panose="02020603050405020304" pitchFamily="18" charset="0"/>
                <a:cs typeface="Times New Roman" panose="02020603050405020304" pitchFamily="18" charset="0"/>
              </a:rPr>
              <a:t>For example, with good programming styles, impact of change is reduced, thereby reducing the number of failures. </a:t>
            </a:r>
          </a:p>
        </p:txBody>
      </p:sp>
      <p:sp>
        <p:nvSpPr>
          <p:cNvPr id="5" name="TextBox 4">
            <a:extLst>
              <a:ext uri="{FF2B5EF4-FFF2-40B4-BE49-F238E27FC236}">
                <a16:creationId xmlns:a16="http://schemas.microsoft.com/office/drawing/2014/main" id="{C5D133BD-0CD7-4955-85EE-D361EFB9D72D}"/>
              </a:ext>
            </a:extLst>
          </p:cNvPr>
          <p:cNvSpPr txBox="1"/>
          <p:nvPr/>
        </p:nvSpPr>
        <p:spPr>
          <a:xfrm>
            <a:off x="4794365" y="5752039"/>
            <a:ext cx="6570865" cy="369332"/>
          </a:xfrm>
          <a:prstGeom prst="rect">
            <a:avLst/>
          </a:prstGeom>
          <a:noFill/>
        </p:spPr>
        <p:txBody>
          <a:bodyPr wrap="square">
            <a:spAutoFit/>
          </a:bodyPr>
          <a:lstStyle/>
          <a:p>
            <a:r>
              <a:rPr lang="en-MY"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Source : http://swebokwiki.org/Chapter_5:_Software_Maintenance</a:t>
            </a:r>
            <a:endParaRPr lang="en-M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5766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2781" y="1079221"/>
            <a:ext cx="10018713" cy="584200"/>
          </a:xfrm>
        </p:spPr>
        <p:txBody>
          <a:bodyPr>
            <a:noAutofit/>
          </a:bodyPr>
          <a:lstStyle/>
          <a:p>
            <a:r>
              <a:rPr lang="en-US" sz="3200" b="1" dirty="0">
                <a:latin typeface="Times New Roman" panose="02020603050405020304" pitchFamily="18" charset="0"/>
                <a:cs typeface="Times New Roman" panose="02020603050405020304" pitchFamily="18" charset="0"/>
              </a:rPr>
              <a:t>Activity-Based Classification </a:t>
            </a:r>
          </a:p>
        </p:txBody>
      </p:sp>
      <p:sp>
        <p:nvSpPr>
          <p:cNvPr id="3" name="Content Placeholder 2"/>
          <p:cNvSpPr>
            <a:spLocks noGrp="1"/>
          </p:cNvSpPr>
          <p:nvPr>
            <p:ph idx="1"/>
          </p:nvPr>
        </p:nvSpPr>
        <p:spPr>
          <a:xfrm>
            <a:off x="1202781" y="1898006"/>
            <a:ext cx="10118820" cy="3880773"/>
          </a:xfrm>
        </p:spPr>
        <p:txBody>
          <a:bodyPr>
            <a:normAutofit/>
          </a:bodyPr>
          <a:lstStyle/>
          <a:p>
            <a:r>
              <a:rPr lang="en-US" sz="2400" dirty="0">
                <a:latin typeface="Times New Roman" panose="02020603050405020304" pitchFamily="18" charset="0"/>
                <a:cs typeface="Times New Roman" panose="02020603050405020304" pitchFamily="18" charset="0"/>
              </a:rPr>
              <a:t>The intention of an activity depends upon the reason for the change.</a:t>
            </a:r>
          </a:p>
          <a:p>
            <a:r>
              <a:rPr lang="en-US" sz="2400" dirty="0">
                <a:latin typeface="Times New Roman" panose="02020603050405020304" pitchFamily="18" charset="0"/>
                <a:cs typeface="Times New Roman" panose="02020603050405020304" pitchFamily="18" charset="0"/>
              </a:rPr>
              <a:t>Two categories: </a:t>
            </a:r>
            <a:r>
              <a:rPr lang="en-US" sz="2400" b="1" dirty="0">
                <a:latin typeface="Times New Roman" panose="02020603050405020304" pitchFamily="18" charset="0"/>
                <a:cs typeface="Times New Roman" panose="02020603050405020304" pitchFamily="18" charset="0"/>
              </a:rPr>
              <a:t>corrections</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enhancements</a:t>
            </a:r>
            <a:r>
              <a:rPr lang="en-US" sz="2400" dirty="0">
                <a:latin typeface="Times New Roman" panose="02020603050405020304" pitchFamily="18" charset="0"/>
                <a:cs typeface="Times New Roman" panose="02020603050405020304" pitchFamily="18" charset="0"/>
              </a:rPr>
              <a:t>.</a:t>
            </a:r>
          </a:p>
          <a:p>
            <a:pPr marL="45720" indent="0">
              <a:buNone/>
            </a:pPr>
            <a:endParaRPr lang="en-US" sz="2400" u="sng" dirty="0">
              <a:latin typeface="Times New Roman" panose="02020603050405020304" pitchFamily="18" charset="0"/>
              <a:cs typeface="Times New Roman" panose="02020603050405020304" pitchFamily="18" charset="0"/>
            </a:endParaRPr>
          </a:p>
          <a:p>
            <a:pPr marL="45720" indent="0">
              <a:buNone/>
            </a:pPr>
            <a:r>
              <a:rPr lang="en-US" sz="2400" u="sng" dirty="0">
                <a:latin typeface="Times New Roman" panose="02020603050405020304" pitchFamily="18" charset="0"/>
                <a:cs typeface="Times New Roman" panose="02020603050405020304" pitchFamily="18" charset="0"/>
              </a:rPr>
              <a:t>Corrections</a:t>
            </a:r>
          </a:p>
          <a:p>
            <a:r>
              <a:rPr lang="en-US" sz="2400" dirty="0">
                <a:latin typeface="Times New Roman" panose="02020603050405020304" pitchFamily="18" charset="0"/>
                <a:cs typeface="Times New Roman" panose="02020603050405020304" pitchFamily="18" charset="0"/>
              </a:rPr>
              <a:t>The activities in this category are intended to correct system flaws, which are defined as a difference between the expected and actual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of the system.</a:t>
            </a:r>
          </a:p>
        </p:txBody>
      </p:sp>
      <p:graphicFrame>
        <p:nvGraphicFramePr>
          <p:cNvPr id="4" name="Table 4">
            <a:extLst>
              <a:ext uri="{FF2B5EF4-FFF2-40B4-BE49-F238E27FC236}">
                <a16:creationId xmlns:a16="http://schemas.microsoft.com/office/drawing/2014/main" id="{09E36691-5182-454D-8AE5-1DC16D6B616E}"/>
              </a:ext>
            </a:extLst>
          </p:cNvPr>
          <p:cNvGraphicFramePr>
            <a:graphicFrameLocks noGrp="1"/>
          </p:cNvGraphicFramePr>
          <p:nvPr>
            <p:extLst>
              <p:ext uri="{D42A27DB-BD31-4B8C-83A1-F6EECF244321}">
                <p14:modId xmlns:p14="http://schemas.microsoft.com/office/powerpoint/2010/main" val="4259571775"/>
              </p:ext>
            </p:extLst>
          </p:nvPr>
        </p:nvGraphicFramePr>
        <p:xfrm>
          <a:off x="3936483" y="4666259"/>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42670907"/>
                    </a:ext>
                  </a:extLst>
                </a:gridCol>
                <a:gridCol w="2709333">
                  <a:extLst>
                    <a:ext uri="{9D8B030D-6E8A-4147-A177-3AD203B41FA5}">
                      <a16:colId xmlns:a16="http://schemas.microsoft.com/office/drawing/2014/main" val="3928636150"/>
                    </a:ext>
                  </a:extLst>
                </a:gridCol>
                <a:gridCol w="2709333">
                  <a:extLst>
                    <a:ext uri="{9D8B030D-6E8A-4147-A177-3AD203B41FA5}">
                      <a16:colId xmlns:a16="http://schemas.microsoft.com/office/drawing/2014/main" val="1609589642"/>
                    </a:ext>
                  </a:extLst>
                </a:gridCol>
              </a:tblGrid>
              <a:tr h="370840">
                <a:tc>
                  <a:txBody>
                    <a:bodyPr/>
                    <a:lstStyle/>
                    <a:p>
                      <a:endParaRPr lang="en-MY" dirty="0"/>
                    </a:p>
                  </a:txBody>
                  <a:tcPr/>
                </a:tc>
                <a:tc>
                  <a:txBody>
                    <a:bodyPr/>
                    <a:lstStyle/>
                    <a:p>
                      <a:r>
                        <a:rPr lang="en-MY" altLang="zh-CN" dirty="0"/>
                        <a:t>Enhancement</a:t>
                      </a:r>
                      <a:endParaRPr lang="en-MY" dirty="0"/>
                    </a:p>
                  </a:txBody>
                  <a:tcPr/>
                </a:tc>
                <a:tc>
                  <a:txBody>
                    <a:bodyPr/>
                    <a:lstStyle/>
                    <a:p>
                      <a:r>
                        <a:rPr lang="en-MY" dirty="0"/>
                        <a:t>Correction</a:t>
                      </a:r>
                    </a:p>
                  </a:txBody>
                  <a:tcPr/>
                </a:tc>
                <a:extLst>
                  <a:ext uri="{0D108BD9-81ED-4DB2-BD59-A6C34878D82A}">
                    <a16:rowId xmlns:a16="http://schemas.microsoft.com/office/drawing/2014/main" val="1654998860"/>
                  </a:ext>
                </a:extLst>
              </a:tr>
              <a:tr h="370840">
                <a:tc>
                  <a:txBody>
                    <a:bodyPr/>
                    <a:lstStyle/>
                    <a:p>
                      <a:r>
                        <a:rPr lang="en-MY" dirty="0"/>
                        <a:t>Proactive</a:t>
                      </a:r>
                    </a:p>
                  </a:txBody>
                  <a:tcPr/>
                </a:tc>
                <a:tc>
                  <a:txBody>
                    <a:bodyPr/>
                    <a:lstStyle/>
                    <a:p>
                      <a:r>
                        <a:rPr lang="en-MY" dirty="0"/>
                        <a:t>Perfective</a:t>
                      </a:r>
                    </a:p>
                  </a:txBody>
                  <a:tcPr/>
                </a:tc>
                <a:tc>
                  <a:txBody>
                    <a:bodyPr/>
                    <a:lstStyle/>
                    <a:p>
                      <a:r>
                        <a:rPr lang="en-MY" dirty="0"/>
                        <a:t>Preventive</a:t>
                      </a:r>
                    </a:p>
                  </a:txBody>
                  <a:tcPr/>
                </a:tc>
                <a:extLst>
                  <a:ext uri="{0D108BD9-81ED-4DB2-BD59-A6C34878D82A}">
                    <a16:rowId xmlns:a16="http://schemas.microsoft.com/office/drawing/2014/main" val="393356361"/>
                  </a:ext>
                </a:extLst>
              </a:tr>
              <a:tr h="370840">
                <a:tc>
                  <a:txBody>
                    <a:bodyPr/>
                    <a:lstStyle/>
                    <a:p>
                      <a:r>
                        <a:rPr lang="en-MY" dirty="0"/>
                        <a:t>Reactive</a:t>
                      </a:r>
                    </a:p>
                  </a:txBody>
                  <a:tcPr/>
                </a:tc>
                <a:tc>
                  <a:txBody>
                    <a:bodyPr/>
                    <a:lstStyle/>
                    <a:p>
                      <a:r>
                        <a:rPr lang="en-MY" dirty="0"/>
                        <a:t>Adaptive</a:t>
                      </a:r>
                    </a:p>
                  </a:txBody>
                  <a:tcPr/>
                </a:tc>
                <a:tc>
                  <a:txBody>
                    <a:bodyPr/>
                    <a:lstStyle/>
                    <a:p>
                      <a:r>
                        <a:rPr lang="en-MY" dirty="0"/>
                        <a:t>Corrective</a:t>
                      </a:r>
                    </a:p>
                  </a:txBody>
                  <a:tcPr/>
                </a:tc>
                <a:extLst>
                  <a:ext uri="{0D108BD9-81ED-4DB2-BD59-A6C34878D82A}">
                    <a16:rowId xmlns:a16="http://schemas.microsoft.com/office/drawing/2014/main" val="2761772671"/>
                  </a:ext>
                </a:extLst>
              </a:tr>
            </a:tbl>
          </a:graphicData>
        </a:graphic>
      </p:graphicFrame>
      <p:sp>
        <p:nvSpPr>
          <p:cNvPr id="5" name="TextBox 4">
            <a:extLst>
              <a:ext uri="{FF2B5EF4-FFF2-40B4-BE49-F238E27FC236}">
                <a16:creationId xmlns:a16="http://schemas.microsoft.com/office/drawing/2014/main" id="{A533C6B1-29AF-1666-8800-74C286CF1B13}"/>
              </a:ext>
            </a:extLst>
          </p:cNvPr>
          <p:cNvSpPr txBox="1"/>
          <p:nvPr/>
        </p:nvSpPr>
        <p:spPr>
          <a:xfrm>
            <a:off x="3936483" y="5778779"/>
            <a:ext cx="8339974" cy="646331"/>
          </a:xfrm>
          <a:prstGeom prst="rect">
            <a:avLst/>
          </a:prstGeom>
          <a:noFill/>
        </p:spPr>
        <p:txBody>
          <a:bodyPr wrap="square">
            <a:spAutoFit/>
          </a:bodyPr>
          <a:lstStyle/>
          <a:p>
            <a:r>
              <a:rPr lang="en-GB" sz="1200" dirty="0">
                <a:latin typeface="Times New Roman" panose="02020603050405020304" pitchFamily="18" charset="0"/>
                <a:cs typeface="Times New Roman" panose="02020603050405020304" pitchFamily="18" charset="0"/>
              </a:rPr>
              <a:t>Source from:</a:t>
            </a:r>
          </a:p>
          <a:p>
            <a:r>
              <a:rPr lang="en-GB" sz="1200" dirty="0">
                <a:latin typeface="Times New Roman" panose="02020603050405020304" pitchFamily="18" charset="0"/>
                <a:cs typeface="Times New Roman" panose="02020603050405020304" pitchFamily="18" charset="0"/>
              </a:rPr>
              <a:t>Tripathy, P., Naik K. (2014). </a:t>
            </a:r>
            <a:r>
              <a:rPr lang="en-GB" sz="1200" i="1" dirty="0">
                <a:latin typeface="Times New Roman" panose="02020603050405020304" pitchFamily="18" charset="0"/>
                <a:cs typeface="Times New Roman" panose="02020603050405020304" pitchFamily="18" charset="0"/>
              </a:rPr>
              <a:t>Software Evolution and Maintenance – A Practitioner’s Approach</a:t>
            </a:r>
            <a:r>
              <a:rPr lang="en-GB" sz="1200" dirty="0">
                <a:latin typeface="Times New Roman" panose="02020603050405020304" pitchFamily="18" charset="0"/>
                <a:cs typeface="Times New Roman" panose="02020603050405020304" pitchFamily="18" charset="0"/>
              </a:rPr>
              <a:t>. John Wiley and Son. Springer </a:t>
            </a:r>
            <a:r>
              <a:rPr lang="en-GB" sz="1200" dirty="0" err="1">
                <a:latin typeface="Times New Roman" panose="02020603050405020304" pitchFamily="18" charset="0"/>
                <a:cs typeface="Times New Roman" panose="02020603050405020304" pitchFamily="18" charset="0"/>
              </a:rPr>
              <a:t>Vieweg</a:t>
            </a:r>
            <a:r>
              <a:rPr lang="en-GB" sz="120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0932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643" y="1075448"/>
            <a:ext cx="10018713" cy="742167"/>
          </a:xfrm>
        </p:spPr>
        <p:txBody>
          <a:bodyPr>
            <a:normAutofit/>
          </a:bodyPr>
          <a:lstStyle/>
          <a:p>
            <a:r>
              <a:rPr lang="en-US" sz="3200" b="1" dirty="0">
                <a:latin typeface="Times New Roman" panose="02020603050405020304" pitchFamily="18" charset="0"/>
                <a:cs typeface="Times New Roman" panose="02020603050405020304" pitchFamily="18" charset="0"/>
              </a:rPr>
              <a:t>Activity-Based Classification </a:t>
            </a:r>
            <a:endParaRPr lang="en-US" sz="3200" b="1" dirty="0"/>
          </a:p>
        </p:txBody>
      </p:sp>
      <p:sp>
        <p:nvSpPr>
          <p:cNvPr id="3" name="Content Placeholder 2"/>
          <p:cNvSpPr>
            <a:spLocks noGrp="1"/>
          </p:cNvSpPr>
          <p:nvPr>
            <p:ph idx="1"/>
          </p:nvPr>
        </p:nvSpPr>
        <p:spPr>
          <a:xfrm>
            <a:off x="1159563" y="1817581"/>
            <a:ext cx="9872871" cy="3439391"/>
          </a:xfrm>
        </p:spPr>
        <p:txBody>
          <a:bodyPr>
            <a:noAutofit/>
          </a:bodyPr>
          <a:lstStyle/>
          <a:p>
            <a:pPr marL="45720" indent="0">
              <a:buNone/>
            </a:pPr>
            <a:r>
              <a:rPr lang="en-US" sz="2400" u="sng" dirty="0">
                <a:latin typeface="Times New Roman" panose="02020603050405020304" pitchFamily="18" charset="0"/>
                <a:cs typeface="Times New Roman" panose="02020603050405020304" pitchFamily="18" charset="0"/>
              </a:rPr>
              <a:t>Enhancements</a:t>
            </a:r>
          </a:p>
          <a:p>
            <a:r>
              <a:rPr lang="en-US" sz="2400" dirty="0">
                <a:latin typeface="Times New Roman" panose="02020603050405020304" pitchFamily="18" charset="0"/>
                <a:cs typeface="Times New Roman" panose="02020603050405020304" pitchFamily="18" charset="0"/>
              </a:rPr>
              <a:t>Do not necessarily modify the system’s behavior.</a:t>
            </a:r>
          </a:p>
          <a:p>
            <a:r>
              <a:rPr lang="en-US" sz="2400" dirty="0" err="1">
                <a:latin typeface="Times New Roman" panose="02020603050405020304" pitchFamily="18" charset="0"/>
                <a:cs typeface="Times New Roman" panose="02020603050405020304" pitchFamily="18" charset="0"/>
              </a:rPr>
              <a:t>Categorised</a:t>
            </a:r>
            <a:r>
              <a:rPr lang="en-US" sz="2400" dirty="0">
                <a:latin typeface="Times New Roman" panose="02020603050405020304" pitchFamily="18" charset="0"/>
                <a:cs typeface="Times New Roman" panose="02020603050405020304" pitchFamily="18" charset="0"/>
              </a:rPr>
              <a:t> into three subcategories as follows: </a:t>
            </a:r>
          </a:p>
          <a:p>
            <a:pPr marL="45720" indent="0">
              <a:buNone/>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enhancement activities </a:t>
            </a:r>
            <a:r>
              <a:rPr lang="en-US" sz="2400" dirty="0">
                <a:latin typeface="Times New Roman" panose="02020603050405020304" pitchFamily="18" charset="0"/>
                <a:cs typeface="Times New Roman" panose="02020603050405020304" pitchFamily="18" charset="0"/>
              </a:rPr>
              <a:t>that modify existing requirements (some) implemented by the system</a:t>
            </a:r>
          </a:p>
          <a:p>
            <a:pPr marL="45720" indent="0">
              <a:buNone/>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enhancement activities </a:t>
            </a:r>
            <a:r>
              <a:rPr lang="en-US" sz="2400" dirty="0">
                <a:latin typeface="Times New Roman" panose="02020603050405020304" pitchFamily="18" charset="0"/>
                <a:cs typeface="Times New Roman" panose="02020603050405020304" pitchFamily="18" charset="0"/>
              </a:rPr>
              <a:t>that add new system requirements; and </a:t>
            </a:r>
          </a:p>
          <a:p>
            <a:pPr marL="45720" indent="0">
              <a:buNone/>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enhancement activities </a:t>
            </a:r>
            <a:r>
              <a:rPr lang="en-US" sz="2400" dirty="0">
                <a:latin typeface="Times New Roman" panose="02020603050405020304" pitchFamily="18" charset="0"/>
                <a:cs typeface="Times New Roman" panose="02020603050405020304" pitchFamily="18" charset="0"/>
              </a:rPr>
              <a:t>that change the implementation without modifying the existing requirements of the system.</a:t>
            </a:r>
          </a:p>
          <a:p>
            <a:endParaRPr lang="en-US" sz="2400"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0C0E107B-D667-4E82-A7A7-E4159E9018C7}"/>
              </a:ext>
            </a:extLst>
          </p:cNvPr>
          <p:cNvGraphicFramePr>
            <a:graphicFrameLocks noGrp="1"/>
          </p:cNvGraphicFramePr>
          <p:nvPr>
            <p:extLst>
              <p:ext uri="{D42A27DB-BD31-4B8C-83A1-F6EECF244321}">
                <p14:modId xmlns:p14="http://schemas.microsoft.com/office/powerpoint/2010/main" val="558881660"/>
              </p:ext>
            </p:extLst>
          </p:nvPr>
        </p:nvGraphicFramePr>
        <p:xfrm>
          <a:off x="4873083" y="5333106"/>
          <a:ext cx="7178178" cy="1097280"/>
        </p:xfrm>
        <a:graphic>
          <a:graphicData uri="http://schemas.openxmlformats.org/drawingml/2006/table">
            <a:tbl>
              <a:tblPr firstRow="1" bandRow="1">
                <a:tableStyleId>{5C22544A-7EE6-4342-B048-85BDC9FD1C3A}</a:tableStyleId>
              </a:tblPr>
              <a:tblGrid>
                <a:gridCol w="2392726">
                  <a:extLst>
                    <a:ext uri="{9D8B030D-6E8A-4147-A177-3AD203B41FA5}">
                      <a16:colId xmlns:a16="http://schemas.microsoft.com/office/drawing/2014/main" val="2042670907"/>
                    </a:ext>
                  </a:extLst>
                </a:gridCol>
                <a:gridCol w="2392726">
                  <a:extLst>
                    <a:ext uri="{9D8B030D-6E8A-4147-A177-3AD203B41FA5}">
                      <a16:colId xmlns:a16="http://schemas.microsoft.com/office/drawing/2014/main" val="3928636150"/>
                    </a:ext>
                  </a:extLst>
                </a:gridCol>
                <a:gridCol w="2392726">
                  <a:extLst>
                    <a:ext uri="{9D8B030D-6E8A-4147-A177-3AD203B41FA5}">
                      <a16:colId xmlns:a16="http://schemas.microsoft.com/office/drawing/2014/main" val="1609589642"/>
                    </a:ext>
                  </a:extLst>
                </a:gridCol>
              </a:tblGrid>
              <a:tr h="303860">
                <a:tc>
                  <a:txBody>
                    <a:bodyPr/>
                    <a:lstStyle/>
                    <a:p>
                      <a:endParaRPr lang="en-MY" dirty="0"/>
                    </a:p>
                  </a:txBody>
                  <a:tcPr/>
                </a:tc>
                <a:tc>
                  <a:txBody>
                    <a:bodyPr/>
                    <a:lstStyle/>
                    <a:p>
                      <a:r>
                        <a:rPr lang="en-MY" altLang="zh-CN" dirty="0"/>
                        <a:t>Enhancement</a:t>
                      </a:r>
                      <a:endParaRPr lang="en-MY" dirty="0"/>
                    </a:p>
                  </a:txBody>
                  <a:tcPr/>
                </a:tc>
                <a:tc>
                  <a:txBody>
                    <a:bodyPr/>
                    <a:lstStyle/>
                    <a:p>
                      <a:r>
                        <a:rPr lang="en-MY" dirty="0"/>
                        <a:t>Correction</a:t>
                      </a:r>
                    </a:p>
                  </a:txBody>
                  <a:tcPr/>
                </a:tc>
                <a:extLst>
                  <a:ext uri="{0D108BD9-81ED-4DB2-BD59-A6C34878D82A}">
                    <a16:rowId xmlns:a16="http://schemas.microsoft.com/office/drawing/2014/main" val="1654998860"/>
                  </a:ext>
                </a:extLst>
              </a:tr>
              <a:tr h="303860">
                <a:tc>
                  <a:txBody>
                    <a:bodyPr/>
                    <a:lstStyle/>
                    <a:p>
                      <a:r>
                        <a:rPr lang="en-MY" dirty="0"/>
                        <a:t>Proactive</a:t>
                      </a:r>
                    </a:p>
                  </a:txBody>
                  <a:tcPr/>
                </a:tc>
                <a:tc>
                  <a:txBody>
                    <a:bodyPr/>
                    <a:lstStyle/>
                    <a:p>
                      <a:r>
                        <a:rPr lang="en-MY" dirty="0"/>
                        <a:t>Perfective</a:t>
                      </a:r>
                    </a:p>
                  </a:txBody>
                  <a:tcPr/>
                </a:tc>
                <a:tc>
                  <a:txBody>
                    <a:bodyPr/>
                    <a:lstStyle/>
                    <a:p>
                      <a:r>
                        <a:rPr lang="en-MY" dirty="0"/>
                        <a:t>Preventive</a:t>
                      </a:r>
                    </a:p>
                  </a:txBody>
                  <a:tcPr/>
                </a:tc>
                <a:extLst>
                  <a:ext uri="{0D108BD9-81ED-4DB2-BD59-A6C34878D82A}">
                    <a16:rowId xmlns:a16="http://schemas.microsoft.com/office/drawing/2014/main" val="393356361"/>
                  </a:ext>
                </a:extLst>
              </a:tr>
              <a:tr h="303860">
                <a:tc>
                  <a:txBody>
                    <a:bodyPr/>
                    <a:lstStyle/>
                    <a:p>
                      <a:r>
                        <a:rPr lang="en-MY" dirty="0"/>
                        <a:t>Reactive</a:t>
                      </a:r>
                    </a:p>
                  </a:txBody>
                  <a:tcPr/>
                </a:tc>
                <a:tc>
                  <a:txBody>
                    <a:bodyPr/>
                    <a:lstStyle/>
                    <a:p>
                      <a:r>
                        <a:rPr lang="en-MY" dirty="0"/>
                        <a:t>Adaptive</a:t>
                      </a:r>
                    </a:p>
                  </a:txBody>
                  <a:tcPr/>
                </a:tc>
                <a:tc>
                  <a:txBody>
                    <a:bodyPr/>
                    <a:lstStyle/>
                    <a:p>
                      <a:r>
                        <a:rPr lang="en-MY" dirty="0"/>
                        <a:t>Corrective</a:t>
                      </a:r>
                    </a:p>
                  </a:txBody>
                  <a:tcPr/>
                </a:tc>
                <a:extLst>
                  <a:ext uri="{0D108BD9-81ED-4DB2-BD59-A6C34878D82A}">
                    <a16:rowId xmlns:a16="http://schemas.microsoft.com/office/drawing/2014/main" val="2761772671"/>
                  </a:ext>
                </a:extLst>
              </a:tr>
            </a:tbl>
          </a:graphicData>
        </a:graphic>
      </p:graphicFrame>
      <p:sp>
        <p:nvSpPr>
          <p:cNvPr id="5" name="TextBox 4">
            <a:extLst>
              <a:ext uri="{FF2B5EF4-FFF2-40B4-BE49-F238E27FC236}">
                <a16:creationId xmlns:a16="http://schemas.microsoft.com/office/drawing/2014/main" id="{8C77D298-D225-87EA-4602-22AE57415C19}"/>
              </a:ext>
            </a:extLst>
          </p:cNvPr>
          <p:cNvSpPr txBox="1"/>
          <p:nvPr/>
        </p:nvSpPr>
        <p:spPr>
          <a:xfrm>
            <a:off x="140740" y="6211669"/>
            <a:ext cx="8339974" cy="646331"/>
          </a:xfrm>
          <a:prstGeom prst="rect">
            <a:avLst/>
          </a:prstGeom>
          <a:noFill/>
        </p:spPr>
        <p:txBody>
          <a:bodyPr wrap="square">
            <a:spAutoFit/>
          </a:bodyPr>
          <a:lstStyle/>
          <a:p>
            <a:r>
              <a:rPr lang="en-GB" sz="1200" dirty="0">
                <a:latin typeface="Times New Roman" panose="02020603050405020304" pitchFamily="18" charset="0"/>
                <a:cs typeface="Times New Roman" panose="02020603050405020304" pitchFamily="18" charset="0"/>
              </a:rPr>
              <a:t>Source from:</a:t>
            </a:r>
          </a:p>
          <a:p>
            <a:r>
              <a:rPr lang="en-GB" sz="1200" dirty="0">
                <a:latin typeface="Times New Roman" panose="02020603050405020304" pitchFamily="18" charset="0"/>
                <a:cs typeface="Times New Roman" panose="02020603050405020304" pitchFamily="18" charset="0"/>
              </a:rPr>
              <a:t>Tripathy, P., Naik K. (2014). </a:t>
            </a:r>
            <a:r>
              <a:rPr lang="en-GB" sz="1200" i="1" dirty="0">
                <a:latin typeface="Times New Roman" panose="02020603050405020304" pitchFamily="18" charset="0"/>
                <a:cs typeface="Times New Roman" panose="02020603050405020304" pitchFamily="18" charset="0"/>
              </a:rPr>
              <a:t>Software Evolution and Maintenance – A Practitioner’s Approach</a:t>
            </a:r>
            <a:r>
              <a:rPr lang="en-GB" sz="1200" dirty="0">
                <a:latin typeface="Times New Roman" panose="02020603050405020304" pitchFamily="18" charset="0"/>
                <a:cs typeface="Times New Roman" panose="02020603050405020304" pitchFamily="18" charset="0"/>
              </a:rPr>
              <a:t>. John Wiley and Son. Springer </a:t>
            </a:r>
            <a:r>
              <a:rPr lang="en-GB" sz="1200" dirty="0" err="1">
                <a:latin typeface="Times New Roman" panose="02020603050405020304" pitchFamily="18" charset="0"/>
                <a:cs typeface="Times New Roman" panose="02020603050405020304" pitchFamily="18" charset="0"/>
              </a:rPr>
              <a:t>Vieweg</a:t>
            </a:r>
            <a:r>
              <a:rPr lang="en-GB" sz="120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6054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78768"/>
            <a:ext cx="9875520" cy="1356360"/>
          </a:xfrm>
        </p:spPr>
        <p:txBody>
          <a:bodyPr>
            <a:normAutofit/>
          </a:bodyPr>
          <a:lstStyle/>
          <a:p>
            <a:r>
              <a:rPr lang="en-US" sz="3200" b="1" dirty="0">
                <a:latin typeface="Times New Roman" panose="02020603050405020304" pitchFamily="18" charset="0"/>
                <a:cs typeface="Times New Roman" panose="02020603050405020304" pitchFamily="18" charset="0"/>
              </a:rPr>
              <a:t>Evidence-Based Classification</a:t>
            </a:r>
          </a:p>
        </p:txBody>
      </p:sp>
      <p:sp>
        <p:nvSpPr>
          <p:cNvPr id="3" name="Content Placeholder 2"/>
          <p:cNvSpPr>
            <a:spLocks noGrp="1"/>
          </p:cNvSpPr>
          <p:nvPr>
            <p:ph idx="1"/>
          </p:nvPr>
        </p:nvSpPr>
        <p:spPr/>
        <p:txBody>
          <a:bodyPr>
            <a:noAutofit/>
          </a:bodyPr>
          <a:lstStyle/>
          <a:p>
            <a:pPr marL="45720" indent="0">
              <a:buNone/>
            </a:pPr>
            <a:r>
              <a:rPr lang="en-US" sz="2400" dirty="0">
                <a:latin typeface="Times New Roman" panose="02020603050405020304" pitchFamily="18" charset="0"/>
                <a:cs typeface="Times New Roman" panose="02020603050405020304" pitchFamily="18" charset="0"/>
              </a:rPr>
              <a:t>Objectives:</a:t>
            </a:r>
          </a:p>
          <a:p>
            <a:r>
              <a:rPr lang="en-US" sz="2400" dirty="0">
                <a:latin typeface="Times New Roman" panose="02020603050405020304" pitchFamily="18" charset="0"/>
                <a:cs typeface="Times New Roman" panose="02020603050405020304" pitchFamily="18" charset="0"/>
              </a:rPr>
              <a:t>based on objective evidence, which may be measured by observations and comparisons of software before and after alterations</a:t>
            </a:r>
          </a:p>
          <a:p>
            <a:r>
              <a:rPr lang="en-US" sz="2400" dirty="0">
                <a:latin typeface="Times New Roman" panose="02020603050405020304" pitchFamily="18" charset="0"/>
                <a:cs typeface="Times New Roman" panose="02020603050405020304" pitchFamily="18" charset="0"/>
              </a:rPr>
              <a:t>select the classification coarseness to reflect a true representative mix of observed activities</a:t>
            </a:r>
          </a:p>
          <a:p>
            <a:pPr algn="just"/>
            <a:r>
              <a:rPr lang="en-US" sz="2400" dirty="0">
                <a:latin typeface="Times New Roman" panose="02020603050405020304" pitchFamily="18" charset="0"/>
                <a:cs typeface="Times New Roman" panose="02020603050405020304" pitchFamily="18" charset="0"/>
              </a:rPr>
              <a:t>Hardware, operating system (OS), organisational processes, design methodology, implementation language, and employees involved in maintenance should all be classified independently of the execution and development environments.</a:t>
            </a:r>
          </a:p>
        </p:txBody>
      </p:sp>
      <p:sp>
        <p:nvSpPr>
          <p:cNvPr id="4" name="TextBox 3">
            <a:extLst>
              <a:ext uri="{FF2B5EF4-FFF2-40B4-BE49-F238E27FC236}">
                <a16:creationId xmlns:a16="http://schemas.microsoft.com/office/drawing/2014/main" id="{38642EF1-3860-4C9E-B467-A4A3140D256E}"/>
              </a:ext>
            </a:extLst>
          </p:cNvPr>
          <p:cNvSpPr txBox="1"/>
          <p:nvPr/>
        </p:nvSpPr>
        <p:spPr>
          <a:xfrm>
            <a:off x="3724508" y="5656534"/>
            <a:ext cx="8339974" cy="646331"/>
          </a:xfrm>
          <a:prstGeom prst="rect">
            <a:avLst/>
          </a:prstGeom>
          <a:noFill/>
        </p:spPr>
        <p:txBody>
          <a:bodyPr wrap="square">
            <a:spAutoFit/>
          </a:bodyPr>
          <a:lstStyle/>
          <a:p>
            <a:r>
              <a:rPr lang="en-GB" sz="1200" dirty="0">
                <a:latin typeface="Times New Roman" panose="02020603050405020304" pitchFamily="18" charset="0"/>
                <a:cs typeface="Times New Roman" panose="02020603050405020304" pitchFamily="18" charset="0"/>
              </a:rPr>
              <a:t>Source from:</a:t>
            </a:r>
          </a:p>
          <a:p>
            <a:r>
              <a:rPr lang="en-GB" sz="1200" dirty="0">
                <a:latin typeface="Times New Roman" panose="02020603050405020304" pitchFamily="18" charset="0"/>
                <a:cs typeface="Times New Roman" panose="02020603050405020304" pitchFamily="18" charset="0"/>
              </a:rPr>
              <a:t>Tripathy, P., Naik K. (2014). </a:t>
            </a:r>
            <a:r>
              <a:rPr lang="en-GB" sz="1200" i="1" dirty="0">
                <a:latin typeface="Times New Roman" panose="02020603050405020304" pitchFamily="18" charset="0"/>
                <a:cs typeface="Times New Roman" panose="02020603050405020304" pitchFamily="18" charset="0"/>
              </a:rPr>
              <a:t>Software Evolution and Maintenance – A Practitioner’s Approach</a:t>
            </a:r>
            <a:r>
              <a:rPr lang="en-GB" sz="1200" dirty="0">
                <a:latin typeface="Times New Roman" panose="02020603050405020304" pitchFamily="18" charset="0"/>
                <a:cs typeface="Times New Roman" panose="02020603050405020304" pitchFamily="18" charset="0"/>
              </a:rPr>
              <a:t>. John Wiley and Son. Springer </a:t>
            </a:r>
            <a:r>
              <a:rPr lang="en-GB" sz="1200" dirty="0" err="1">
                <a:latin typeface="Times New Roman" panose="02020603050405020304" pitchFamily="18" charset="0"/>
                <a:cs typeface="Times New Roman" panose="02020603050405020304" pitchFamily="18" charset="0"/>
              </a:rPr>
              <a:t>Vieweg</a:t>
            </a:r>
            <a:r>
              <a:rPr lang="en-GB" sz="120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9112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88906"/>
            <a:ext cx="10058400" cy="748454"/>
          </a:xfrm>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rPr>
              <a:t>Evidence-Based Classification</a:t>
            </a:r>
            <a:endParaRPr lang="en-US" sz="3200" b="1" dirty="0">
              <a:solidFill>
                <a:schemeClr val="tx1"/>
              </a:solidFill>
            </a:endParaRPr>
          </a:p>
        </p:txBody>
      </p:sp>
      <p:sp>
        <p:nvSpPr>
          <p:cNvPr id="3" name="Content Placeholder 2"/>
          <p:cNvSpPr>
            <a:spLocks noGrp="1"/>
          </p:cNvSpPr>
          <p:nvPr>
            <p:ph idx="1"/>
          </p:nvPr>
        </p:nvSpPr>
        <p:spPr/>
        <p:txBody>
          <a:bodyPr>
            <a:normAutofit/>
          </a:bodyPr>
          <a:lstStyle/>
          <a:p>
            <a:pPr marL="45720" indent="0">
              <a:buNone/>
            </a:pPr>
            <a:r>
              <a:rPr lang="en-US" sz="2400" dirty="0">
                <a:latin typeface="Times New Roman" panose="02020603050405020304" pitchFamily="18" charset="0"/>
                <a:cs typeface="Times New Roman" panose="02020603050405020304" pitchFamily="18" charset="0"/>
              </a:rPr>
              <a:t>The types of maintenance activities are clustered based on modifications made, detected, or observed on four elements of the system being maintained:</a:t>
            </a:r>
          </a:p>
          <a:p>
            <a:r>
              <a:rPr lang="en-US" sz="2400" dirty="0">
                <a:latin typeface="Times New Roman" panose="02020603050405020304" pitchFamily="18" charset="0"/>
                <a:cs typeface="Times New Roman" panose="02020603050405020304" pitchFamily="18" charset="0"/>
              </a:rPr>
              <a:t>the entire software  </a:t>
            </a:r>
          </a:p>
          <a:p>
            <a:r>
              <a:rPr lang="en-US" sz="2400" dirty="0">
                <a:latin typeface="Times New Roman" panose="02020603050405020304" pitchFamily="18" charset="0"/>
                <a:cs typeface="Times New Roman" panose="02020603050405020304" pitchFamily="18" charset="0"/>
              </a:rPr>
              <a:t>the external documentation</a:t>
            </a:r>
          </a:p>
          <a:p>
            <a:r>
              <a:rPr lang="en-US" sz="2400" dirty="0">
                <a:latin typeface="Times New Roman" panose="02020603050405020304" pitchFamily="18" charset="0"/>
                <a:cs typeface="Times New Roman" panose="02020603050405020304" pitchFamily="18" charset="0"/>
              </a:rPr>
              <a:t>the properties of the program code </a:t>
            </a:r>
          </a:p>
          <a:p>
            <a:r>
              <a:rPr lang="en-US" sz="2400" dirty="0">
                <a:latin typeface="Times New Roman" panose="02020603050405020304" pitchFamily="18" charset="0"/>
                <a:cs typeface="Times New Roman" panose="02020603050405020304" pitchFamily="18" charset="0"/>
              </a:rPr>
              <a:t>the experience of customer on system functionality.</a:t>
            </a:r>
          </a:p>
          <a:p>
            <a:endParaRPr 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5B9782E-ADC1-4FDA-A873-9D0E9816490A}"/>
              </a:ext>
            </a:extLst>
          </p:cNvPr>
          <p:cNvSpPr txBox="1"/>
          <p:nvPr/>
        </p:nvSpPr>
        <p:spPr>
          <a:xfrm>
            <a:off x="3401123" y="5746635"/>
            <a:ext cx="8601307" cy="461665"/>
          </a:xfrm>
          <a:prstGeom prst="rect">
            <a:avLst/>
          </a:prstGeom>
          <a:noFill/>
        </p:spPr>
        <p:txBody>
          <a:bodyPr wrap="square">
            <a:spAutoFit/>
          </a:bodyPr>
          <a:lstStyle/>
          <a:p>
            <a:r>
              <a:rPr lang="en-GB" sz="1200" dirty="0"/>
              <a:t>Source from:</a:t>
            </a:r>
          </a:p>
          <a:p>
            <a:r>
              <a:rPr lang="en-GB" sz="1200" dirty="0"/>
              <a:t>Tripathy, P., Naik K. (2014). </a:t>
            </a:r>
            <a:r>
              <a:rPr lang="en-GB" sz="1200" i="1" dirty="0"/>
              <a:t>Software Evolution and Maintenance – A Practitioner’s Approach</a:t>
            </a:r>
            <a:r>
              <a:rPr lang="en-GB" sz="1200" dirty="0"/>
              <a:t>. John Wiley and Son. Springer </a:t>
            </a:r>
            <a:r>
              <a:rPr lang="en-GB" sz="1200" dirty="0" err="1"/>
              <a:t>Vieweg</a:t>
            </a:r>
            <a:r>
              <a:rPr lang="en-GB" sz="1200" dirty="0"/>
              <a:t>.</a:t>
            </a:r>
            <a:endParaRPr lang="en-US" sz="1200" dirty="0"/>
          </a:p>
        </p:txBody>
      </p:sp>
    </p:spTree>
    <p:extLst>
      <p:ext uri="{BB962C8B-B14F-4D97-AF65-F5344CB8AC3E}">
        <p14:creationId xmlns:p14="http://schemas.microsoft.com/office/powerpoint/2010/main" val="1866444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A301C-31E2-4741-B54C-C87E259832A5}"/>
              </a:ext>
            </a:extLst>
          </p:cNvPr>
          <p:cNvSpPr>
            <a:spLocks noGrp="1"/>
          </p:cNvSpPr>
          <p:nvPr>
            <p:ph type="title"/>
          </p:nvPr>
        </p:nvSpPr>
        <p:spPr/>
        <p:txBody>
          <a:bodyPr>
            <a:normAutofit/>
          </a:bodyPr>
          <a:lstStyle/>
          <a:p>
            <a:r>
              <a:rPr lang="en-MY" sz="3200" b="1" dirty="0">
                <a:latin typeface="Times New Roman" panose="02020603050405020304" pitchFamily="18" charset="0"/>
                <a:cs typeface="Times New Roman" panose="02020603050405020304" pitchFamily="18" charset="0"/>
              </a:rPr>
              <a:t>Support Interface</a:t>
            </a:r>
            <a:endParaRPr lang="en-GB"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66C4F1-A789-4F96-AC79-AE457C88AE58}"/>
              </a:ext>
            </a:extLst>
          </p:cNvPr>
          <p:cNvSpPr>
            <a:spLocks noGrp="1"/>
          </p:cNvSpPr>
          <p:nvPr>
            <p:ph idx="1"/>
          </p:nvPr>
        </p:nvSpPr>
        <p:spPr/>
        <p:txBody>
          <a:bodyPr>
            <a:normAutofit lnSpcReduction="10000"/>
          </a:bodyPr>
          <a:lstStyle/>
          <a:p>
            <a:pPr marL="0" marR="0" indent="0" algn="just">
              <a:lnSpc>
                <a:spcPct val="107000"/>
              </a:lnSpc>
              <a:spcBef>
                <a:spcPts val="0"/>
              </a:spcBef>
              <a:spcAft>
                <a:spcPts val="800"/>
              </a:spcAft>
              <a:buNone/>
            </a:pPr>
            <a:r>
              <a:rPr lang="en-GB" sz="2400" dirty="0">
                <a:solidFill>
                  <a:srgbClr val="FF0000"/>
                </a:solidFill>
                <a:effectLst/>
                <a:latin typeface="Times New Roman" panose="02020603050405020304" pitchFamily="18" charset="0"/>
                <a:ea typeface="DengXian" panose="02010600030101010101" pitchFamily="2" charset="-122"/>
                <a:cs typeface="Times New Roman" panose="02020603050405020304" pitchFamily="18" charset="0"/>
              </a:rPr>
              <a:t>Training</a:t>
            </a:r>
            <a:r>
              <a:rPr lang="en-GB" sz="2400" dirty="0">
                <a:effectLst/>
                <a:latin typeface="Times New Roman" panose="02020603050405020304" pitchFamily="18" charset="0"/>
                <a:ea typeface="DengXian" panose="02010600030101010101" pitchFamily="2" charset="-122"/>
                <a:cs typeface="Times New Roman" panose="02020603050405020304" pitchFamily="18" charset="0"/>
              </a:rPr>
              <a:t>, this refers to informing the stakeholders about the system's implementation.</a:t>
            </a:r>
          </a:p>
          <a:p>
            <a:pPr marL="0" marR="0" indent="0" algn="just">
              <a:lnSpc>
                <a:spcPct val="107000"/>
              </a:lnSpc>
              <a:spcBef>
                <a:spcPts val="0"/>
              </a:spcBef>
              <a:spcAft>
                <a:spcPts val="800"/>
              </a:spcAft>
              <a:buNone/>
            </a:pPr>
            <a:r>
              <a:rPr lang="en-GB" sz="2400" dirty="0">
                <a:solidFill>
                  <a:srgbClr val="FF0000"/>
                </a:solidFill>
                <a:effectLst/>
                <a:latin typeface="Times New Roman" panose="02020603050405020304" pitchFamily="18" charset="0"/>
                <a:ea typeface="DengXian" panose="02010600030101010101" pitchFamily="2" charset="-122"/>
                <a:cs typeface="Times New Roman" panose="02020603050405020304" pitchFamily="18" charset="0"/>
              </a:rPr>
              <a:t>Consultive</a:t>
            </a:r>
            <a:r>
              <a:rPr lang="en-GB" sz="2400" dirty="0">
                <a:effectLst/>
                <a:latin typeface="Times New Roman" panose="02020603050405020304" pitchFamily="18" charset="0"/>
                <a:ea typeface="DengXian" panose="02010600030101010101" pitchFamily="2" charset="-122"/>
                <a:cs typeface="Times New Roman" panose="02020603050405020304" pitchFamily="18" charset="0"/>
              </a:rPr>
              <a:t> In this type, maintenance work is estimated in terms of cost and time, personnel staff a help desk, clients are assisted in preparing maintenance work requests, and personnel share expert knowledge of available resources and the system with others in the company to improve efficiency.</a:t>
            </a:r>
          </a:p>
          <a:p>
            <a:pPr marL="0" marR="0" indent="0" algn="just">
              <a:lnSpc>
                <a:spcPct val="107000"/>
              </a:lnSpc>
              <a:spcBef>
                <a:spcPts val="0"/>
              </a:spcBef>
              <a:spcAft>
                <a:spcPts val="800"/>
              </a:spcAft>
              <a:buNone/>
            </a:pPr>
            <a:r>
              <a:rPr lang="en-GB" sz="2400" dirty="0">
                <a:solidFill>
                  <a:srgbClr val="FF0000"/>
                </a:solidFill>
                <a:effectLst/>
                <a:latin typeface="Times New Roman" panose="02020603050405020304" pitchFamily="18" charset="0"/>
                <a:ea typeface="DengXian" panose="02010600030101010101" pitchFamily="2" charset="-122"/>
                <a:cs typeface="Times New Roman" panose="02020603050405020304" pitchFamily="18" charset="0"/>
              </a:rPr>
              <a:t>Evaluative</a:t>
            </a:r>
            <a:r>
              <a:rPr lang="en-GB" sz="2400" dirty="0">
                <a:effectLst/>
                <a:latin typeface="Times New Roman" panose="02020603050405020304" pitchFamily="18" charset="0"/>
                <a:ea typeface="DengXian" panose="02010600030101010101" pitchFamily="2" charset="-122"/>
                <a:cs typeface="Times New Roman" panose="02020603050405020304" pitchFamily="18" charset="0"/>
              </a:rPr>
              <a:t> Reviewing the program code and documentations, assessing the ripple effect of a proposed modification, writing and performing tests, examining the programming support offered by the operating system, and discovering and debugging the required data are all common actions in this kind.</a:t>
            </a:r>
          </a:p>
          <a:p>
            <a:pPr marL="45720" indent="0" algn="just">
              <a:buNone/>
            </a:pPr>
            <a:endParaRPr lang="en-GB"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D21D0E2-C4B4-4103-9510-889F17FDDD79}"/>
              </a:ext>
            </a:extLst>
          </p:cNvPr>
          <p:cNvSpPr txBox="1"/>
          <p:nvPr/>
        </p:nvSpPr>
        <p:spPr>
          <a:xfrm>
            <a:off x="3479180" y="5746635"/>
            <a:ext cx="8502871" cy="461665"/>
          </a:xfrm>
          <a:prstGeom prst="rect">
            <a:avLst/>
          </a:prstGeom>
          <a:noFill/>
        </p:spPr>
        <p:txBody>
          <a:bodyPr wrap="square">
            <a:spAutoFit/>
          </a:bodyPr>
          <a:lstStyle/>
          <a:p>
            <a:r>
              <a:rPr lang="en-GB" sz="1200" dirty="0"/>
              <a:t>Source from:</a:t>
            </a:r>
          </a:p>
          <a:p>
            <a:r>
              <a:rPr lang="en-GB" sz="1200" dirty="0"/>
              <a:t>Tripathy, P., Naik K. (2014). </a:t>
            </a:r>
            <a:r>
              <a:rPr lang="en-GB" sz="1200" i="1" dirty="0"/>
              <a:t>Software Evolution and Maintenance – A Practitioner’s Approach</a:t>
            </a:r>
            <a:r>
              <a:rPr lang="en-GB" sz="1200" dirty="0"/>
              <a:t>. John Wiley and Son. Springer </a:t>
            </a:r>
            <a:r>
              <a:rPr lang="en-GB" sz="1200" dirty="0" err="1"/>
              <a:t>Vieweg</a:t>
            </a:r>
            <a:r>
              <a:rPr lang="en-GB" sz="1200" dirty="0"/>
              <a:t>.</a:t>
            </a:r>
            <a:endParaRPr lang="en-US" sz="1200" dirty="0"/>
          </a:p>
        </p:txBody>
      </p:sp>
    </p:spTree>
    <p:extLst>
      <p:ext uri="{BB962C8B-B14F-4D97-AF65-F5344CB8AC3E}">
        <p14:creationId xmlns:p14="http://schemas.microsoft.com/office/powerpoint/2010/main" val="2691522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A301C-31E2-4741-B54C-C87E259832A5}"/>
              </a:ext>
            </a:extLst>
          </p:cNvPr>
          <p:cNvSpPr>
            <a:spLocks noGrp="1"/>
          </p:cNvSpPr>
          <p:nvPr>
            <p:ph type="title"/>
          </p:nvPr>
        </p:nvSpPr>
        <p:spPr/>
        <p:txBody>
          <a:bodyPr>
            <a:normAutofit/>
          </a:bodyPr>
          <a:lstStyle/>
          <a:p>
            <a:r>
              <a:rPr lang="en-MY" sz="3200" b="1" dirty="0">
                <a:latin typeface="Times New Roman" panose="02020603050405020304" pitchFamily="18" charset="0"/>
                <a:cs typeface="Times New Roman" panose="02020603050405020304" pitchFamily="18" charset="0"/>
              </a:rPr>
              <a:t>Documentation</a:t>
            </a:r>
            <a:endParaRPr lang="en-GB"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66C4F1-A789-4F96-AC79-AE457C88AE58}"/>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GB" sz="2400" dirty="0">
                <a:solidFill>
                  <a:srgbClr val="FF0000"/>
                </a:solidFill>
                <a:effectLst/>
                <a:latin typeface="Times New Roman" panose="02020603050405020304" pitchFamily="18" charset="0"/>
                <a:ea typeface="DengXian" panose="02010600030101010101" pitchFamily="2" charset="-122"/>
                <a:cs typeface="Times New Roman" panose="02020603050405020304" pitchFamily="18" charset="0"/>
              </a:rPr>
              <a:t>Reformative </a:t>
            </a:r>
            <a:r>
              <a:rPr lang="en-GB" sz="2400" dirty="0">
                <a:effectLst/>
                <a:latin typeface="Times New Roman" panose="02020603050405020304" pitchFamily="18" charset="0"/>
                <a:ea typeface="DengXian" panose="02010600030101010101" pitchFamily="2" charset="-122"/>
                <a:cs typeface="Times New Roman" panose="02020603050405020304" pitchFamily="18" charset="0"/>
              </a:rPr>
              <a:t>Ordinary actions of this sort include improving the readability of the documentation, aligning it with other system modifications, creating training materials, and adding entries to a data dictionary.</a:t>
            </a:r>
          </a:p>
          <a:p>
            <a:pPr marL="0" marR="0" indent="0">
              <a:lnSpc>
                <a:spcPct val="107000"/>
              </a:lnSpc>
              <a:spcBef>
                <a:spcPts val="0"/>
              </a:spcBef>
              <a:spcAft>
                <a:spcPts val="800"/>
              </a:spcAft>
              <a:buNone/>
            </a:pPr>
            <a:r>
              <a:rPr lang="en-GB" sz="2400" dirty="0" err="1">
                <a:solidFill>
                  <a:srgbClr val="FF0000"/>
                </a:solidFill>
                <a:effectLst/>
                <a:latin typeface="Times New Roman" panose="02020603050405020304" pitchFamily="18" charset="0"/>
                <a:ea typeface="DengXian" panose="02010600030101010101" pitchFamily="2" charset="-122"/>
                <a:cs typeface="Times New Roman" panose="02020603050405020304" pitchFamily="18" charset="0"/>
              </a:rPr>
              <a:t>Updative</a:t>
            </a:r>
            <a:r>
              <a:rPr lang="en-GB" sz="2400" dirty="0">
                <a:effectLst/>
                <a:latin typeface="Times New Roman" panose="02020603050405020304" pitchFamily="18" charset="0"/>
                <a:ea typeface="DengXian" panose="02010600030101010101" pitchFamily="2" charset="-122"/>
                <a:cs typeface="Times New Roman" panose="02020603050405020304" pitchFamily="18" charset="0"/>
              </a:rPr>
              <a:t> Typical tasks include replacing out-of-date documentation with current documentation, creating semi-formal documentation, such as in UML, to document current programme code, and updating the documentation with test plans.</a:t>
            </a:r>
          </a:p>
          <a:p>
            <a:pPr marL="45720" indent="0" algn="just">
              <a:buNone/>
            </a:pPr>
            <a:endParaRPr lang="en-GB" sz="3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CC6E5E1-DED0-415C-90C9-77232A7B7F31}"/>
              </a:ext>
            </a:extLst>
          </p:cNvPr>
          <p:cNvSpPr txBox="1"/>
          <p:nvPr/>
        </p:nvSpPr>
        <p:spPr>
          <a:xfrm>
            <a:off x="3612995" y="5746635"/>
            <a:ext cx="8261916" cy="646331"/>
          </a:xfrm>
          <a:prstGeom prst="rect">
            <a:avLst/>
          </a:prstGeom>
          <a:noFill/>
        </p:spPr>
        <p:txBody>
          <a:bodyPr wrap="square">
            <a:spAutoFit/>
          </a:bodyPr>
          <a:lstStyle/>
          <a:p>
            <a:r>
              <a:rPr lang="en-GB" sz="1200" dirty="0">
                <a:latin typeface="Times New Roman" panose="02020603050405020304" pitchFamily="18" charset="0"/>
                <a:cs typeface="Times New Roman" panose="02020603050405020304" pitchFamily="18" charset="0"/>
              </a:rPr>
              <a:t>Source from:</a:t>
            </a:r>
          </a:p>
          <a:p>
            <a:r>
              <a:rPr lang="en-GB" sz="1200" dirty="0">
                <a:latin typeface="Times New Roman" panose="02020603050405020304" pitchFamily="18" charset="0"/>
                <a:cs typeface="Times New Roman" panose="02020603050405020304" pitchFamily="18" charset="0"/>
              </a:rPr>
              <a:t>Tripathy, P., Naik K. (2014). </a:t>
            </a:r>
            <a:r>
              <a:rPr lang="en-GB" sz="1200" i="1" dirty="0">
                <a:latin typeface="Times New Roman" panose="02020603050405020304" pitchFamily="18" charset="0"/>
                <a:cs typeface="Times New Roman" panose="02020603050405020304" pitchFamily="18" charset="0"/>
              </a:rPr>
              <a:t>Software Evolution and Maintenance – A Practitioner’s Approach</a:t>
            </a:r>
            <a:r>
              <a:rPr lang="en-GB" sz="1200" dirty="0">
                <a:latin typeface="Times New Roman" panose="02020603050405020304" pitchFamily="18" charset="0"/>
                <a:cs typeface="Times New Roman" panose="02020603050405020304" pitchFamily="18" charset="0"/>
              </a:rPr>
              <a:t>. John Wiley and Son. Springer </a:t>
            </a:r>
            <a:r>
              <a:rPr lang="en-GB" sz="1200" dirty="0" err="1">
                <a:latin typeface="Times New Roman" panose="02020603050405020304" pitchFamily="18" charset="0"/>
                <a:cs typeface="Times New Roman" panose="02020603050405020304" pitchFamily="18" charset="0"/>
              </a:rPr>
              <a:t>Vieweg</a:t>
            </a:r>
            <a:r>
              <a:rPr lang="en-GB" sz="120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8183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A301C-31E2-4741-B54C-C87E259832A5}"/>
              </a:ext>
            </a:extLst>
          </p:cNvPr>
          <p:cNvSpPr>
            <a:spLocks noGrp="1"/>
          </p:cNvSpPr>
          <p:nvPr>
            <p:ph type="title"/>
          </p:nvPr>
        </p:nvSpPr>
        <p:spPr>
          <a:xfrm>
            <a:off x="1097280" y="1081668"/>
            <a:ext cx="10058400" cy="655692"/>
          </a:xfrm>
        </p:spPr>
        <p:txBody>
          <a:bodyPr>
            <a:normAutofit/>
          </a:bodyPr>
          <a:lstStyle/>
          <a:p>
            <a:r>
              <a:rPr lang="en-MY" sz="3200" b="1" dirty="0">
                <a:latin typeface="Times New Roman" panose="02020603050405020304" pitchFamily="18" charset="0"/>
                <a:cs typeface="Times New Roman" panose="02020603050405020304" pitchFamily="18" charset="0"/>
              </a:rPr>
              <a:t>Software Properties</a:t>
            </a:r>
            <a:endParaRPr lang="en-GB"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66C4F1-A789-4F96-AC79-AE457C88AE58}"/>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r>
              <a:rPr lang="en-GB" sz="2000" dirty="0" err="1">
                <a:solidFill>
                  <a:srgbClr val="FF0000"/>
                </a:solidFill>
                <a:effectLst/>
                <a:latin typeface="Times New Roman" panose="02020603050405020304" pitchFamily="18" charset="0"/>
                <a:ea typeface="DengXian" panose="02010600030101010101" pitchFamily="2" charset="-122"/>
                <a:cs typeface="Times New Roman" panose="02020603050405020304" pitchFamily="18" charset="0"/>
              </a:rPr>
              <a:t>Groomative</a:t>
            </a:r>
            <a:r>
              <a:rPr lang="en-GB" sz="2000" dirty="0">
                <a:effectLst/>
                <a:latin typeface="Times New Roman" panose="02020603050405020304" pitchFamily="18" charset="0"/>
                <a:ea typeface="DengXian" panose="02010600030101010101" pitchFamily="2" charset="-122"/>
                <a:cs typeface="Times New Roman" panose="02020603050405020304" pitchFamily="18" charset="0"/>
              </a:rPr>
              <a:t> Substituting more efficient and simpler components and algorithms, updating data naming standards, changing access authorizations, compiling source code, and performing backups are all common actions in this category.</a:t>
            </a:r>
          </a:p>
          <a:p>
            <a:pPr marL="0" marR="0" indent="0" algn="just">
              <a:lnSpc>
                <a:spcPct val="107000"/>
              </a:lnSpc>
              <a:spcBef>
                <a:spcPts val="0"/>
              </a:spcBef>
              <a:spcAft>
                <a:spcPts val="800"/>
              </a:spcAft>
              <a:buNone/>
            </a:pPr>
            <a:r>
              <a:rPr lang="en-GB" sz="2000" dirty="0">
                <a:effectLst/>
                <a:latin typeface="Times New Roman" panose="02020603050405020304" pitchFamily="18" charset="0"/>
                <a:ea typeface="DengXian" panose="02010600030101010101" pitchFamily="2" charset="-122"/>
                <a:cs typeface="Times New Roman" panose="02020603050405020304" pitchFamily="18" charset="0"/>
              </a:rPr>
              <a:t>Ordinary </a:t>
            </a:r>
            <a:r>
              <a:rPr lang="en-GB" sz="2000" dirty="0">
                <a:solidFill>
                  <a:srgbClr val="FF0000"/>
                </a:solidFill>
                <a:effectLst/>
                <a:latin typeface="Times New Roman" panose="02020603050405020304" pitchFamily="18" charset="0"/>
                <a:ea typeface="DengXian" panose="02010600030101010101" pitchFamily="2" charset="-122"/>
                <a:cs typeface="Times New Roman" panose="02020603050405020304" pitchFamily="18" charset="0"/>
              </a:rPr>
              <a:t>preventive</a:t>
            </a:r>
            <a:r>
              <a:rPr lang="en-GB" sz="2000" dirty="0">
                <a:effectLst/>
                <a:latin typeface="Times New Roman" panose="02020603050405020304" pitchFamily="18" charset="0"/>
                <a:ea typeface="DengXian" panose="02010600030101010101" pitchFamily="2" charset="-122"/>
                <a:cs typeface="Times New Roman" panose="02020603050405020304" pitchFamily="18" charset="0"/>
              </a:rPr>
              <a:t> efforts of this type make improvements to improve maintainability and lay the groundwork for a future transition to an emerging technology.</a:t>
            </a:r>
          </a:p>
          <a:p>
            <a:pPr marL="0" marR="0" indent="0" algn="just">
              <a:lnSpc>
                <a:spcPct val="107000"/>
              </a:lnSpc>
              <a:spcBef>
                <a:spcPts val="0"/>
              </a:spcBef>
              <a:spcAft>
                <a:spcPts val="800"/>
              </a:spcAft>
              <a:buNone/>
            </a:pPr>
            <a:r>
              <a:rPr lang="en-GB" sz="2000" dirty="0">
                <a:solidFill>
                  <a:srgbClr val="FF0000"/>
                </a:solidFill>
                <a:effectLst/>
                <a:latin typeface="Times New Roman" panose="02020603050405020304" pitchFamily="18" charset="0"/>
                <a:ea typeface="DengXian" panose="02010600030101010101" pitchFamily="2" charset="-122"/>
                <a:cs typeface="Times New Roman" panose="02020603050405020304" pitchFamily="18" charset="0"/>
              </a:rPr>
              <a:t>Performance</a:t>
            </a:r>
            <a:r>
              <a:rPr lang="en-GB" sz="2000" dirty="0">
                <a:effectLst/>
                <a:latin typeface="Times New Roman" panose="02020603050405020304" pitchFamily="18" charset="0"/>
                <a:ea typeface="DengXian" panose="02010600030101010101" pitchFamily="2" charset="-122"/>
                <a:cs typeface="Times New Roman" panose="02020603050405020304" pitchFamily="18" charset="0"/>
              </a:rPr>
              <a:t> activities provide results that have an influence on the user. These operations increase system uptime by replacing slower components and algorithms.</a:t>
            </a:r>
          </a:p>
          <a:p>
            <a:pPr marL="0" marR="0" indent="0" algn="just">
              <a:lnSpc>
                <a:spcPct val="107000"/>
              </a:lnSpc>
              <a:spcBef>
                <a:spcPts val="0"/>
              </a:spcBef>
              <a:spcAft>
                <a:spcPts val="800"/>
              </a:spcAft>
              <a:buNone/>
            </a:pPr>
            <a:r>
              <a:rPr lang="en-GB" sz="2000" dirty="0">
                <a:effectLst/>
                <a:latin typeface="Times New Roman" panose="02020603050405020304" pitchFamily="18" charset="0"/>
                <a:ea typeface="DengXian" panose="02010600030101010101" pitchFamily="2" charset="-122"/>
                <a:cs typeface="Times New Roman" panose="02020603050405020304" pitchFamily="18" charset="0"/>
              </a:rPr>
              <a:t>Ordinary </a:t>
            </a:r>
            <a:r>
              <a:rPr lang="en-GB" sz="2000" dirty="0">
                <a:solidFill>
                  <a:srgbClr val="FF0000"/>
                </a:solidFill>
                <a:effectLst/>
                <a:latin typeface="Times New Roman" panose="02020603050405020304" pitchFamily="18" charset="0"/>
                <a:ea typeface="DengXian" panose="02010600030101010101" pitchFamily="2" charset="-122"/>
                <a:cs typeface="Times New Roman" panose="02020603050405020304" pitchFamily="18" charset="0"/>
              </a:rPr>
              <a:t>Adaptive</a:t>
            </a:r>
            <a:r>
              <a:rPr lang="en-GB" sz="2000" dirty="0">
                <a:effectLst/>
                <a:latin typeface="Times New Roman" panose="02020603050405020304" pitchFamily="18" charset="0"/>
                <a:ea typeface="DengXian" panose="02010600030101010101" pitchFamily="2" charset="-122"/>
                <a:cs typeface="Times New Roman" panose="02020603050405020304" pitchFamily="18" charset="0"/>
              </a:rPr>
              <a:t> actions of this sort migrate software to a new execution platform and increase the use of COTS components.</a:t>
            </a:r>
          </a:p>
          <a:p>
            <a:pPr marL="45720" indent="0" algn="just">
              <a:buNone/>
            </a:pPr>
            <a:endParaRPr lang="en-GB" sz="4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7D5E530-43BF-49F9-B56B-0FDA6C535201}"/>
              </a:ext>
            </a:extLst>
          </p:cNvPr>
          <p:cNvSpPr txBox="1"/>
          <p:nvPr/>
        </p:nvSpPr>
        <p:spPr>
          <a:xfrm>
            <a:off x="526554" y="6017567"/>
            <a:ext cx="11348357" cy="461665"/>
          </a:xfrm>
          <a:prstGeom prst="rect">
            <a:avLst/>
          </a:prstGeom>
          <a:noFill/>
        </p:spPr>
        <p:txBody>
          <a:bodyPr wrap="square">
            <a:spAutoFit/>
          </a:bodyPr>
          <a:lstStyle/>
          <a:p>
            <a:r>
              <a:rPr lang="en-GB" sz="1200" dirty="0"/>
              <a:t>Source from:</a:t>
            </a:r>
          </a:p>
          <a:p>
            <a:r>
              <a:rPr lang="en-GB" sz="1200" dirty="0"/>
              <a:t>Tripathy, P., Naik K. (2014). </a:t>
            </a:r>
            <a:r>
              <a:rPr lang="en-GB" sz="1200" i="1" dirty="0"/>
              <a:t>Software Evolution and Maintenance – A Practitioner’s Approach</a:t>
            </a:r>
            <a:r>
              <a:rPr lang="en-GB" sz="1200" dirty="0"/>
              <a:t>. John Wiley and Son. Springer </a:t>
            </a:r>
            <a:r>
              <a:rPr lang="en-GB" sz="1200" dirty="0" err="1"/>
              <a:t>Vieweg</a:t>
            </a:r>
            <a:r>
              <a:rPr lang="en-GB" sz="1200" dirty="0"/>
              <a:t>.</a:t>
            </a:r>
            <a:endParaRPr lang="en-US" sz="1200" dirty="0"/>
          </a:p>
        </p:txBody>
      </p:sp>
    </p:spTree>
    <p:extLst>
      <p:ext uri="{BB962C8B-B14F-4D97-AF65-F5344CB8AC3E}">
        <p14:creationId xmlns:p14="http://schemas.microsoft.com/office/powerpoint/2010/main" val="90594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A301C-31E2-4741-B54C-C87E259832A5}"/>
              </a:ext>
            </a:extLst>
          </p:cNvPr>
          <p:cNvSpPr>
            <a:spLocks noGrp="1"/>
          </p:cNvSpPr>
          <p:nvPr>
            <p:ph type="title"/>
          </p:nvPr>
        </p:nvSpPr>
        <p:spPr/>
        <p:txBody>
          <a:bodyPr/>
          <a:lstStyle/>
          <a:p>
            <a:r>
              <a:rPr lang="en-MY" dirty="0">
                <a:latin typeface="Times New Roman" panose="02020603050405020304" pitchFamily="18" charset="0"/>
                <a:cs typeface="Times New Roman" panose="02020603050405020304" pitchFamily="18" charset="0"/>
              </a:rPr>
              <a:t>Business Rules</a:t>
            </a: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66C4F1-A789-4F96-AC79-AE457C88AE58}"/>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GB" sz="2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Reductive</a:t>
            </a:r>
            <a:r>
              <a:rPr lang="en-GB" sz="2400" dirty="0">
                <a:effectLst/>
                <a:latin typeface="Calibri" panose="020F0502020204030204" pitchFamily="34" charset="0"/>
                <a:ea typeface="DengXian" panose="02010600030101010101" pitchFamily="2" charset="-122"/>
                <a:cs typeface="Times New Roman" panose="02020603050405020304" pitchFamily="18" charset="0"/>
              </a:rPr>
              <a:t> Ordinary operations of this sort reduce the amount of data input to the system and reduce the amount of data created by the system.</a:t>
            </a:r>
          </a:p>
          <a:p>
            <a:pPr marL="0" marR="0" indent="0">
              <a:lnSpc>
                <a:spcPct val="107000"/>
              </a:lnSpc>
              <a:spcBef>
                <a:spcPts val="0"/>
              </a:spcBef>
              <a:spcAft>
                <a:spcPts val="800"/>
              </a:spcAft>
              <a:buNone/>
            </a:pPr>
            <a:r>
              <a:rPr lang="en-GB" sz="2400" dirty="0">
                <a:solidFill>
                  <a:srgbClr val="FF0000"/>
                </a:solidFill>
                <a:latin typeface="Calibri" panose="020F0502020204030204" pitchFamily="34" charset="0"/>
                <a:ea typeface="DengXian" panose="02010600030101010101" pitchFamily="2" charset="-122"/>
                <a:cs typeface="Times New Roman" panose="02020603050405020304" pitchFamily="18" charset="0"/>
              </a:rPr>
              <a:t>Corrective</a:t>
            </a:r>
            <a:r>
              <a:rPr lang="en-GB" sz="2400" dirty="0">
                <a:effectLst/>
                <a:latin typeface="Calibri" panose="020F0502020204030204" pitchFamily="34" charset="0"/>
                <a:ea typeface="DengXian" panose="02010600030101010101" pitchFamily="2" charset="-122"/>
                <a:cs typeface="Times New Roman" panose="02020603050405020304" pitchFamily="18" charset="0"/>
              </a:rPr>
              <a:t> Correcting detected flaws, implementing defensive programming strategies, and changing the way exceptions are handled are all common actions in this category.</a:t>
            </a:r>
          </a:p>
          <a:p>
            <a:pPr marL="0" marR="0" indent="0">
              <a:lnSpc>
                <a:spcPct val="107000"/>
              </a:lnSpc>
              <a:spcBef>
                <a:spcPts val="0"/>
              </a:spcBef>
              <a:spcAft>
                <a:spcPts val="800"/>
              </a:spcAft>
              <a:buNone/>
            </a:pPr>
            <a:r>
              <a:rPr lang="en-GB" sz="2400" dirty="0">
                <a:solidFill>
                  <a:srgbClr val="FF0000"/>
                </a:solidFill>
                <a:latin typeface="Calibri" panose="020F0502020204030204" pitchFamily="34" charset="0"/>
                <a:ea typeface="DengXian" panose="02010600030101010101" pitchFamily="2" charset="-122"/>
                <a:cs typeface="Times New Roman" panose="02020603050405020304" pitchFamily="18" charset="0"/>
              </a:rPr>
              <a:t>Enhancive</a:t>
            </a:r>
            <a:r>
              <a:rPr lang="en-GB" sz="2400" dirty="0">
                <a:effectLst/>
                <a:latin typeface="Calibri" panose="020F0502020204030204" pitchFamily="34" charset="0"/>
                <a:ea typeface="DengXian" panose="02010600030101010101" pitchFamily="2" charset="-122"/>
                <a:cs typeface="Times New Roman" panose="02020603050405020304" pitchFamily="18" charset="0"/>
              </a:rPr>
              <a:t> Adding and changing business rules to improve the system's functionality available to the client, as well as adding new data flows into or out of the software, are typical tasks in this category.</a:t>
            </a:r>
          </a:p>
          <a:p>
            <a:pPr marL="45720" indent="0" algn="just">
              <a:buNone/>
            </a:pPr>
            <a:endParaRPr lang="en-GB" sz="4800" dirty="0"/>
          </a:p>
        </p:txBody>
      </p:sp>
      <p:sp>
        <p:nvSpPr>
          <p:cNvPr id="4" name="TextBox 3">
            <a:extLst>
              <a:ext uri="{FF2B5EF4-FFF2-40B4-BE49-F238E27FC236}">
                <a16:creationId xmlns:a16="http://schemas.microsoft.com/office/drawing/2014/main" id="{DB3B09C6-BCDA-41EE-9617-54CB76737D97}"/>
              </a:ext>
            </a:extLst>
          </p:cNvPr>
          <p:cNvSpPr txBox="1"/>
          <p:nvPr/>
        </p:nvSpPr>
        <p:spPr>
          <a:xfrm>
            <a:off x="452301" y="5638261"/>
            <a:ext cx="11348357" cy="461665"/>
          </a:xfrm>
          <a:prstGeom prst="rect">
            <a:avLst/>
          </a:prstGeom>
          <a:noFill/>
        </p:spPr>
        <p:txBody>
          <a:bodyPr wrap="square">
            <a:spAutoFit/>
          </a:bodyPr>
          <a:lstStyle/>
          <a:p>
            <a:r>
              <a:rPr lang="en-GB" sz="1200" dirty="0"/>
              <a:t>Source from:</a:t>
            </a:r>
          </a:p>
          <a:p>
            <a:r>
              <a:rPr lang="en-GB" sz="1200" dirty="0"/>
              <a:t>Tripathy, P., Naik K. (2014). </a:t>
            </a:r>
            <a:r>
              <a:rPr lang="en-GB" sz="1200" i="1" dirty="0"/>
              <a:t>Software Evolution and Maintenance – A Practitioner’s Approach</a:t>
            </a:r>
            <a:r>
              <a:rPr lang="en-GB" sz="1200" dirty="0"/>
              <a:t>. John Wiley and Son. Springer </a:t>
            </a:r>
            <a:r>
              <a:rPr lang="en-GB" sz="1200" dirty="0" err="1"/>
              <a:t>Vieweg</a:t>
            </a:r>
            <a:r>
              <a:rPr lang="en-GB" sz="1200" dirty="0"/>
              <a:t>.</a:t>
            </a:r>
            <a:endParaRPr lang="en-US" sz="1200" dirty="0"/>
          </a:p>
        </p:txBody>
      </p:sp>
    </p:spTree>
    <p:extLst>
      <p:ext uri="{BB962C8B-B14F-4D97-AF65-F5344CB8AC3E}">
        <p14:creationId xmlns:p14="http://schemas.microsoft.com/office/powerpoint/2010/main" val="1586008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549652" cy="1618415"/>
          </a:xfrm>
        </p:spPr>
        <p:txBody>
          <a:bodyPr>
            <a:noAutofit/>
          </a:bodyPr>
          <a:lstStyle/>
          <a:p>
            <a:r>
              <a:rPr lang="en-US" sz="3200" dirty="0">
                <a:solidFill>
                  <a:schemeClr val="tx1"/>
                </a:solidFill>
                <a:latin typeface="Times New Roman" panose="02020603050405020304" pitchFamily="18" charset="0"/>
                <a:cs typeface="Times New Roman" panose="02020603050405020304" pitchFamily="18" charset="0"/>
              </a:rPr>
              <a:t>Evidence based maintenance activities</a:t>
            </a:r>
          </a:p>
        </p:txBody>
      </p:sp>
      <p:pic>
        <p:nvPicPr>
          <p:cNvPr id="4" name="Content Placeholder 3"/>
          <p:cNvPicPr>
            <a:picLocks noGrp="1" noChangeAspect="1"/>
          </p:cNvPicPr>
          <p:nvPr>
            <p:ph idx="1"/>
          </p:nvPr>
        </p:nvPicPr>
        <p:blipFill>
          <a:blip r:embed="rId2"/>
          <a:stretch>
            <a:fillRect/>
          </a:stretch>
        </p:blipFill>
        <p:spPr>
          <a:xfrm>
            <a:off x="4523894" y="79108"/>
            <a:ext cx="6977619" cy="5829985"/>
          </a:xfrm>
          <a:prstGeom prst="rect">
            <a:avLst/>
          </a:prstGeom>
        </p:spPr>
      </p:pic>
      <p:sp>
        <p:nvSpPr>
          <p:cNvPr id="5" name="TextBox 4">
            <a:extLst>
              <a:ext uri="{FF2B5EF4-FFF2-40B4-BE49-F238E27FC236}">
                <a16:creationId xmlns:a16="http://schemas.microsoft.com/office/drawing/2014/main" id="{31D3A914-8300-437C-8F4F-E7265E7C6383}"/>
              </a:ext>
            </a:extLst>
          </p:cNvPr>
          <p:cNvSpPr txBox="1"/>
          <p:nvPr/>
        </p:nvSpPr>
        <p:spPr>
          <a:xfrm>
            <a:off x="203076" y="4931788"/>
            <a:ext cx="5143500" cy="1200329"/>
          </a:xfrm>
          <a:prstGeom prst="rect">
            <a:avLst/>
          </a:prstGeom>
          <a:noFill/>
        </p:spPr>
        <p:txBody>
          <a:bodyPr wrap="square">
            <a:spAutoFit/>
          </a:bodyPr>
          <a:lstStyle/>
          <a:p>
            <a:r>
              <a:rPr lang="en-GB" dirty="0"/>
              <a:t>Source from:</a:t>
            </a:r>
          </a:p>
          <a:p>
            <a:r>
              <a:rPr lang="en-GB" dirty="0"/>
              <a:t>Tripathy, P., Naik K. (2014). </a:t>
            </a:r>
            <a:r>
              <a:rPr lang="en-GB" i="1" dirty="0"/>
              <a:t>Software Evolution and Maintenance – A Practitioner’s Approach</a:t>
            </a:r>
            <a:r>
              <a:rPr lang="en-GB" dirty="0"/>
              <a:t>. John Wiley and Son. Springer </a:t>
            </a:r>
            <a:r>
              <a:rPr lang="en-GB" dirty="0" err="1"/>
              <a:t>Vieweg</a:t>
            </a:r>
            <a:r>
              <a:rPr lang="en-GB" dirty="0"/>
              <a:t>.</a:t>
            </a:r>
            <a:endParaRPr lang="en-US" dirty="0"/>
          </a:p>
        </p:txBody>
      </p:sp>
    </p:spTree>
    <p:extLst>
      <p:ext uri="{BB962C8B-B14F-4D97-AF65-F5344CB8AC3E}">
        <p14:creationId xmlns:p14="http://schemas.microsoft.com/office/powerpoint/2010/main" val="3277507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679333"/>
            <a:ext cx="10178322" cy="1039747"/>
          </a:xfrm>
        </p:spPr>
        <p:txBody>
          <a:bodyPr>
            <a:normAutofit/>
          </a:bodyPr>
          <a:lstStyle/>
          <a:p>
            <a:r>
              <a:rPr lang="en-US" sz="3200" b="1" dirty="0">
                <a:latin typeface="Times New Roman" panose="02020603050405020304" pitchFamily="18" charset="0"/>
                <a:cs typeface="Times New Roman" panose="02020603050405020304" pitchFamily="18" charset="0"/>
              </a:rPr>
              <a:t>Evidence-Based Classification</a:t>
            </a:r>
            <a:endParaRPr lang="en-US" sz="3200" b="1" dirty="0"/>
          </a:p>
        </p:txBody>
      </p:sp>
      <p:sp>
        <p:nvSpPr>
          <p:cNvPr id="3" name="Content Placeholder 2"/>
          <p:cNvSpPr>
            <a:spLocks noGrp="1"/>
          </p:cNvSpPr>
          <p:nvPr>
            <p:ph idx="1"/>
          </p:nvPr>
        </p:nvSpPr>
        <p:spPr>
          <a:xfrm>
            <a:off x="8023173" y="3724787"/>
            <a:ext cx="3406827" cy="423468"/>
          </a:xfrm>
        </p:spPr>
        <p:txBody>
          <a:bodyPr/>
          <a:lstStyle/>
          <a:p>
            <a:r>
              <a:rPr lang="en-US" dirty="0">
                <a:latin typeface="Times New Roman" panose="02020603050405020304" pitchFamily="18" charset="0"/>
                <a:cs typeface="Times New Roman" panose="02020603050405020304" pitchFamily="18" charset="0"/>
              </a:rPr>
              <a:t>Decision Tree-Based Criteria</a:t>
            </a:r>
          </a:p>
        </p:txBody>
      </p:sp>
      <p:pic>
        <p:nvPicPr>
          <p:cNvPr id="4" name="Picture 3"/>
          <p:cNvPicPr>
            <a:picLocks noChangeAspect="1"/>
          </p:cNvPicPr>
          <p:nvPr/>
        </p:nvPicPr>
        <p:blipFill>
          <a:blip r:embed="rId3"/>
          <a:stretch>
            <a:fillRect/>
          </a:stretch>
        </p:blipFill>
        <p:spPr>
          <a:xfrm>
            <a:off x="548790" y="1807411"/>
            <a:ext cx="6611886" cy="4906515"/>
          </a:xfrm>
          <a:prstGeom prst="rect">
            <a:avLst/>
          </a:prstGeom>
        </p:spPr>
      </p:pic>
      <p:sp>
        <p:nvSpPr>
          <p:cNvPr id="5" name="TextBox 4">
            <a:extLst>
              <a:ext uri="{FF2B5EF4-FFF2-40B4-BE49-F238E27FC236}">
                <a16:creationId xmlns:a16="http://schemas.microsoft.com/office/drawing/2014/main" id="{25A19607-4E38-4AE6-8299-261CA62017D1}"/>
              </a:ext>
            </a:extLst>
          </p:cNvPr>
          <p:cNvSpPr txBox="1"/>
          <p:nvPr/>
        </p:nvSpPr>
        <p:spPr>
          <a:xfrm>
            <a:off x="7468549" y="5620667"/>
            <a:ext cx="4516073" cy="646331"/>
          </a:xfrm>
          <a:prstGeom prst="rect">
            <a:avLst/>
          </a:prstGeom>
          <a:noFill/>
        </p:spPr>
        <p:txBody>
          <a:bodyPr wrap="square">
            <a:spAutoFit/>
          </a:bodyPr>
          <a:lstStyle/>
          <a:p>
            <a:r>
              <a:rPr lang="en-GB" sz="1200" dirty="0"/>
              <a:t>Source from:</a:t>
            </a:r>
          </a:p>
          <a:p>
            <a:r>
              <a:rPr lang="en-GB" sz="1200" dirty="0"/>
              <a:t>Tripathy, P., Naik K. (2014). </a:t>
            </a:r>
            <a:r>
              <a:rPr lang="en-GB" sz="1200" i="1" dirty="0"/>
              <a:t>Software Evolution and Maintenance – A Practitioner’s Approach</a:t>
            </a:r>
            <a:r>
              <a:rPr lang="en-GB" sz="1200" dirty="0"/>
              <a:t>. John Wiley and Son. Springer </a:t>
            </a:r>
            <a:r>
              <a:rPr lang="en-GB" sz="1200" dirty="0" err="1"/>
              <a:t>Vieweg</a:t>
            </a:r>
            <a:r>
              <a:rPr lang="en-GB" sz="1200" dirty="0"/>
              <a:t>.</a:t>
            </a:r>
            <a:endParaRPr lang="en-US" sz="1200" dirty="0"/>
          </a:p>
        </p:txBody>
      </p:sp>
      <p:sp>
        <p:nvSpPr>
          <p:cNvPr id="6" name="Right Brace 5">
            <a:extLst>
              <a:ext uri="{FF2B5EF4-FFF2-40B4-BE49-F238E27FC236}">
                <a16:creationId xmlns:a16="http://schemas.microsoft.com/office/drawing/2014/main" id="{F028F24C-1089-455A-24FA-193F9C262C58}"/>
              </a:ext>
            </a:extLst>
          </p:cNvPr>
          <p:cNvSpPr/>
          <p:nvPr/>
        </p:nvSpPr>
        <p:spPr>
          <a:xfrm>
            <a:off x="7047571" y="1807411"/>
            <a:ext cx="735980" cy="4371256"/>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936420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Categories of Domain Concepts that Influence S/W maintenance</a:t>
            </a:r>
          </a:p>
        </p:txBody>
      </p:sp>
      <p:sp>
        <p:nvSpPr>
          <p:cNvPr id="3" name="Content Placeholder 2"/>
          <p:cNvSpPr>
            <a:spLocks noGrp="1"/>
          </p:cNvSpPr>
          <p:nvPr>
            <p:ph idx="1"/>
          </p:nvPr>
        </p:nvSpPr>
        <p:spPr/>
        <p:txBody>
          <a:bodyPr>
            <a:normAutofit/>
          </a:bodyPr>
          <a:lstStyle/>
          <a:p>
            <a:pPr marL="502920" indent="-457200">
              <a:buFont typeface="+mj-lt"/>
              <a:buAutoNum type="arabicPeriod"/>
            </a:pPr>
            <a:r>
              <a:rPr lang="en-US" sz="2400" dirty="0">
                <a:solidFill>
                  <a:schemeClr val="tx1"/>
                </a:solidFill>
                <a:latin typeface="Times New Roman" panose="02020603050405020304" pitchFamily="18" charset="0"/>
                <a:ea typeface="DengXian" panose="02010600030101010101" pitchFamily="2" charset="-122"/>
                <a:cs typeface="Times New Roman" panose="02020603050405020304" pitchFamily="18" charset="0"/>
              </a:rPr>
              <a:t>the product to be maintained; </a:t>
            </a:r>
          </a:p>
          <a:p>
            <a:pPr marL="502920" indent="-457200">
              <a:buFont typeface="+mj-lt"/>
              <a:buAutoNum type="arabicPeriod"/>
            </a:pPr>
            <a:r>
              <a:rPr lang="en-US" sz="2400" dirty="0">
                <a:solidFill>
                  <a:schemeClr val="tx1"/>
                </a:solidFill>
                <a:latin typeface="Times New Roman" panose="02020603050405020304" pitchFamily="18" charset="0"/>
                <a:ea typeface="DengXian" panose="02010600030101010101" pitchFamily="2" charset="-122"/>
                <a:cs typeface="Times New Roman" panose="02020603050405020304" pitchFamily="18" charset="0"/>
              </a:rPr>
              <a:t>the types of maintenance to be performed;</a:t>
            </a:r>
          </a:p>
          <a:p>
            <a:pPr marL="502920" indent="-457200">
              <a:buFont typeface="+mj-lt"/>
              <a:buAutoNum type="arabicPeriod"/>
            </a:pPr>
            <a:r>
              <a:rPr lang="en-US" sz="2400" dirty="0">
                <a:solidFill>
                  <a:schemeClr val="tx1"/>
                </a:solidFill>
                <a:latin typeface="Times New Roman" panose="02020603050405020304" pitchFamily="18" charset="0"/>
                <a:ea typeface="DengXian" panose="02010600030101010101" pitchFamily="2" charset="-122"/>
                <a:cs typeface="Times New Roman" panose="02020603050405020304" pitchFamily="18" charset="0"/>
              </a:rPr>
              <a:t>the maintenance organization processes to be followed; and </a:t>
            </a:r>
          </a:p>
          <a:p>
            <a:pPr marL="502920" indent="-457200">
              <a:buFont typeface="+mj-lt"/>
              <a:buAutoNum type="arabicPeriod"/>
            </a:pPr>
            <a:r>
              <a:rPr lang="en-US" sz="2400" dirty="0">
                <a:solidFill>
                  <a:schemeClr val="tx1"/>
                </a:solidFill>
                <a:latin typeface="Times New Roman" panose="02020603050405020304" pitchFamily="18" charset="0"/>
                <a:ea typeface="DengXian" panose="02010600030101010101" pitchFamily="2" charset="-122"/>
                <a:cs typeface="Times New Roman" panose="02020603050405020304" pitchFamily="18" charset="0"/>
              </a:rPr>
              <a:t>the people ware involved, that is, the people in the maintenance organization and in the customer/client organization.</a:t>
            </a:r>
          </a:p>
          <a:p>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605450D-EE72-CBBB-FAE0-9EEB71CFC068}"/>
              </a:ext>
            </a:extLst>
          </p:cNvPr>
          <p:cNvSpPr txBox="1"/>
          <p:nvPr/>
        </p:nvSpPr>
        <p:spPr>
          <a:xfrm>
            <a:off x="7468549" y="5620667"/>
            <a:ext cx="4516073" cy="646331"/>
          </a:xfrm>
          <a:prstGeom prst="rect">
            <a:avLst/>
          </a:prstGeom>
          <a:noFill/>
        </p:spPr>
        <p:txBody>
          <a:bodyPr wrap="square">
            <a:spAutoFit/>
          </a:bodyPr>
          <a:lstStyle/>
          <a:p>
            <a:r>
              <a:rPr lang="en-GB" sz="1200" dirty="0"/>
              <a:t>Source from:</a:t>
            </a:r>
          </a:p>
          <a:p>
            <a:r>
              <a:rPr lang="en-GB" sz="1200" dirty="0"/>
              <a:t>Tripathy, P., Naik K. (2014). </a:t>
            </a:r>
            <a:r>
              <a:rPr lang="en-GB" sz="1200" i="1" dirty="0"/>
              <a:t>Software Evolution and Maintenance – A Practitioner’s Approach</a:t>
            </a:r>
            <a:r>
              <a:rPr lang="en-GB" sz="1200" dirty="0"/>
              <a:t>. John Wiley and Son. Springer </a:t>
            </a:r>
            <a:r>
              <a:rPr lang="en-GB" sz="1200" dirty="0" err="1"/>
              <a:t>Vieweg</a:t>
            </a:r>
            <a:r>
              <a:rPr lang="en-GB" sz="1200" dirty="0"/>
              <a:t>.</a:t>
            </a:r>
            <a:endParaRPr lang="en-US" sz="1200" dirty="0"/>
          </a:p>
        </p:txBody>
      </p:sp>
    </p:spTree>
    <p:extLst>
      <p:ext uri="{BB962C8B-B14F-4D97-AF65-F5344CB8AC3E}">
        <p14:creationId xmlns:p14="http://schemas.microsoft.com/office/powerpoint/2010/main" val="2653161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065" y="293033"/>
            <a:ext cx="10382918" cy="1356360"/>
          </a:xfrm>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rPr>
              <a:t>CATEGORIES OF DOMAIN CONCEPTS</a:t>
            </a:r>
          </a:p>
        </p:txBody>
      </p:sp>
      <p:pic>
        <p:nvPicPr>
          <p:cNvPr id="5" name="Picture 4"/>
          <p:cNvPicPr>
            <a:picLocks noChangeAspect="1"/>
          </p:cNvPicPr>
          <p:nvPr/>
        </p:nvPicPr>
        <p:blipFill>
          <a:blip r:embed="rId3"/>
          <a:stretch>
            <a:fillRect/>
          </a:stretch>
        </p:blipFill>
        <p:spPr>
          <a:xfrm>
            <a:off x="1247705" y="2231513"/>
            <a:ext cx="4848295" cy="4071959"/>
          </a:xfrm>
          <a:prstGeom prst="rect">
            <a:avLst/>
          </a:prstGeom>
        </p:spPr>
      </p:pic>
      <p:sp>
        <p:nvSpPr>
          <p:cNvPr id="6" name="Rectangle 5"/>
          <p:cNvSpPr/>
          <p:nvPr/>
        </p:nvSpPr>
        <p:spPr>
          <a:xfrm>
            <a:off x="686614" y="1720322"/>
            <a:ext cx="7141542" cy="369332"/>
          </a:xfrm>
          <a:prstGeom prst="rect">
            <a:avLst/>
          </a:prstGeom>
        </p:spPr>
        <p:txBody>
          <a:bodyPr wrap="square">
            <a:spAutoFit/>
          </a:bodyPr>
          <a:lstStyle/>
          <a:p>
            <a:pPr algn="ctr"/>
            <a:r>
              <a:rPr lang="en-US" dirty="0"/>
              <a:t>Overview of concept categories affecting software maintenance</a:t>
            </a:r>
          </a:p>
        </p:txBody>
      </p:sp>
      <p:sp>
        <p:nvSpPr>
          <p:cNvPr id="3" name="TextBox 2">
            <a:extLst>
              <a:ext uri="{FF2B5EF4-FFF2-40B4-BE49-F238E27FC236}">
                <a16:creationId xmlns:a16="http://schemas.microsoft.com/office/drawing/2014/main" id="{00D30D24-F0C3-E961-6387-B858EA490B37}"/>
              </a:ext>
            </a:extLst>
          </p:cNvPr>
          <p:cNvSpPr txBox="1"/>
          <p:nvPr/>
        </p:nvSpPr>
        <p:spPr>
          <a:xfrm>
            <a:off x="7468549" y="5620667"/>
            <a:ext cx="4516073" cy="646331"/>
          </a:xfrm>
          <a:prstGeom prst="rect">
            <a:avLst/>
          </a:prstGeom>
          <a:noFill/>
        </p:spPr>
        <p:txBody>
          <a:bodyPr wrap="square">
            <a:spAutoFit/>
          </a:bodyPr>
          <a:lstStyle/>
          <a:p>
            <a:r>
              <a:rPr lang="en-GB" sz="1200" dirty="0"/>
              <a:t>Source from:</a:t>
            </a:r>
          </a:p>
          <a:p>
            <a:r>
              <a:rPr lang="en-GB" sz="1200" dirty="0"/>
              <a:t>Tripathy, P., Naik K. (2014). </a:t>
            </a:r>
            <a:r>
              <a:rPr lang="en-GB" sz="1200" i="1" dirty="0"/>
              <a:t>Software Evolution and Maintenance – A Practitioner’s Approach</a:t>
            </a:r>
            <a:r>
              <a:rPr lang="en-GB" sz="1200" dirty="0"/>
              <a:t>. John Wiley and Son. Springer </a:t>
            </a:r>
            <a:r>
              <a:rPr lang="en-GB" sz="1200" dirty="0" err="1"/>
              <a:t>Vieweg</a:t>
            </a:r>
            <a:r>
              <a:rPr lang="en-GB" sz="1200" dirty="0"/>
              <a:t>.</a:t>
            </a:r>
            <a:endParaRPr lang="en-US" sz="1200" dirty="0"/>
          </a:p>
        </p:txBody>
      </p:sp>
    </p:spTree>
    <p:extLst>
      <p:ext uri="{BB962C8B-B14F-4D97-AF65-F5344CB8AC3E}">
        <p14:creationId xmlns:p14="http://schemas.microsoft.com/office/powerpoint/2010/main" val="25162041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75955" y="1430053"/>
            <a:ext cx="9840089" cy="4893647"/>
          </a:xfrm>
          <a:prstGeom prst="rect">
            <a:avLst/>
          </a:prstGeom>
          <a:ln>
            <a:solidFill>
              <a:schemeClr val="tx1"/>
            </a:solidFill>
          </a:ln>
        </p:spPr>
        <p:txBody>
          <a:bodyPr wrap="square">
            <a:spAutoFit/>
          </a:bodyPr>
          <a:lstStyle/>
          <a:p>
            <a:r>
              <a:rPr lang="en-US" sz="2400" b="1" dirty="0">
                <a:latin typeface="Times New Roman" panose="02020603050405020304" pitchFamily="18" charset="0"/>
                <a:ea typeface="DengXian" panose="02010600030101010101" pitchFamily="2" charset="-122"/>
                <a:cs typeface="Times New Roman" panose="02020603050405020304" pitchFamily="18" charset="0"/>
              </a:rPr>
              <a:t>Product</a:t>
            </a:r>
          </a:p>
          <a:p>
            <a:r>
              <a:rPr lang="en-US" sz="2400" dirty="0">
                <a:latin typeface="Times New Roman" panose="02020603050405020304" pitchFamily="18" charset="0"/>
                <a:ea typeface="DengXian" panose="02010600030101010101" pitchFamily="2" charset="-122"/>
                <a:cs typeface="Times New Roman" panose="02020603050405020304" pitchFamily="18" charset="0"/>
              </a:rPr>
              <a:t>A cohesive collection of multiple diverse artefacts is referred to as a product. Source code, print manuals, and online help are examples.</a:t>
            </a:r>
          </a:p>
          <a:p>
            <a:endParaRPr lang="en-US" sz="2400" dirty="0">
              <a:latin typeface="Times New Roman" panose="02020603050405020304" pitchFamily="18" charset="0"/>
              <a:ea typeface="DengXian" panose="02010600030101010101" pitchFamily="2" charset="-122"/>
              <a:cs typeface="Times New Roman" panose="02020603050405020304" pitchFamily="18" charset="0"/>
            </a:endParaRPr>
          </a:p>
          <a:p>
            <a:r>
              <a:rPr lang="en-US" sz="2400" b="1" dirty="0">
                <a:latin typeface="Times New Roman" panose="02020603050405020304" pitchFamily="18" charset="0"/>
                <a:ea typeface="DengXian" panose="02010600030101010101" pitchFamily="2" charset="-122"/>
                <a:cs typeface="Times New Roman" panose="02020603050405020304" pitchFamily="18" charset="0"/>
              </a:rPr>
              <a:t>Product upgrade</a:t>
            </a:r>
          </a:p>
          <a:p>
            <a:pPr algn="just"/>
            <a:r>
              <a:rPr lang="en-US" sz="2400" dirty="0">
                <a:latin typeface="Times New Roman" panose="02020603050405020304" pitchFamily="18" charset="0"/>
                <a:ea typeface="DengXian" panose="02010600030101010101" pitchFamily="2" charset="-122"/>
                <a:cs typeface="Times New Roman" panose="02020603050405020304" pitchFamily="18" charset="0"/>
              </a:rPr>
              <a:t>Upgrade the product. A baseline is a collection of connected items that together form a software setup. Upgrade can result in the creation of a new version of the system under maintenance, a patch code for an item, or even a notice describing a limitation on the system's use.</a:t>
            </a:r>
          </a:p>
          <a:p>
            <a:endParaRPr lang="en-US" sz="2400" dirty="0">
              <a:latin typeface="Times New Roman" panose="02020603050405020304" pitchFamily="18" charset="0"/>
              <a:ea typeface="DengXian" panose="02010600030101010101" pitchFamily="2" charset="-122"/>
              <a:cs typeface="Times New Roman" panose="02020603050405020304" pitchFamily="18" charset="0"/>
            </a:endParaRPr>
          </a:p>
          <a:p>
            <a:r>
              <a:rPr lang="en-US" sz="2400" b="1" dirty="0">
                <a:latin typeface="Times New Roman" panose="02020603050405020304" pitchFamily="18" charset="0"/>
                <a:ea typeface="DengXian" panose="02010600030101010101" pitchFamily="2" charset="-122"/>
                <a:cs typeface="Times New Roman" panose="02020603050405020304" pitchFamily="18" charset="0"/>
              </a:rPr>
              <a:t>Artefacts</a:t>
            </a:r>
          </a:p>
          <a:p>
            <a:r>
              <a:rPr lang="en-US" sz="2400" dirty="0">
                <a:latin typeface="Times New Roman" panose="02020603050405020304" pitchFamily="18" charset="0"/>
                <a:ea typeface="DengXian" panose="02010600030101010101" pitchFamily="2" charset="-122"/>
                <a:cs typeface="Times New Roman" panose="02020603050405020304" pitchFamily="18" charset="0"/>
              </a:rPr>
              <a:t>A number of distinct artefacts are </a:t>
            </a:r>
            <a:r>
              <a:rPr lang="en-US" sz="2400" dirty="0" err="1">
                <a:latin typeface="Times New Roman" panose="02020603050405020304" pitchFamily="18" charset="0"/>
                <a:ea typeface="DengXian" panose="02010600030101010101" pitchFamily="2" charset="-122"/>
                <a:cs typeface="Times New Roman" panose="02020603050405020304" pitchFamily="18" charset="0"/>
              </a:rPr>
              <a:t>utilised</a:t>
            </a:r>
            <a:r>
              <a:rPr lang="en-US" sz="2400" dirty="0">
                <a:latin typeface="Times New Roman" panose="02020603050405020304" pitchFamily="18" charset="0"/>
                <a:ea typeface="DengXian" panose="02010600030101010101" pitchFamily="2" charset="-122"/>
                <a:cs typeface="Times New Roman" panose="02020603050405020304" pitchFamily="18" charset="0"/>
              </a:rPr>
              <a:t> in the design of a software product, and a number of artefacts exist alongside a software product at the same time.</a:t>
            </a:r>
          </a:p>
        </p:txBody>
      </p:sp>
      <p:sp>
        <p:nvSpPr>
          <p:cNvPr id="6" name="Title 1"/>
          <p:cNvSpPr txBox="1">
            <a:spLocks/>
          </p:cNvSpPr>
          <p:nvPr/>
        </p:nvSpPr>
        <p:spPr>
          <a:xfrm>
            <a:off x="1175955" y="688554"/>
            <a:ext cx="7391017" cy="7609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a:lstStyle>
          <a:p>
            <a:r>
              <a:rPr lang="en-US" sz="3200" b="1" dirty="0">
                <a:solidFill>
                  <a:schemeClr val="tx1"/>
                </a:solidFill>
                <a:latin typeface="Times New Roman" panose="02020603050405020304" pitchFamily="18" charset="0"/>
                <a:cs typeface="Times New Roman" panose="02020603050405020304" pitchFamily="18" charset="0"/>
              </a:rPr>
              <a:t>Maintained Product</a:t>
            </a:r>
          </a:p>
        </p:txBody>
      </p:sp>
      <p:sp>
        <p:nvSpPr>
          <p:cNvPr id="2" name="TextBox 1">
            <a:extLst>
              <a:ext uri="{FF2B5EF4-FFF2-40B4-BE49-F238E27FC236}">
                <a16:creationId xmlns:a16="http://schemas.microsoft.com/office/drawing/2014/main" id="{55C8301D-FA54-9264-6FF8-F85280E6BC1D}"/>
              </a:ext>
            </a:extLst>
          </p:cNvPr>
          <p:cNvSpPr txBox="1"/>
          <p:nvPr/>
        </p:nvSpPr>
        <p:spPr>
          <a:xfrm>
            <a:off x="7178618" y="6169446"/>
            <a:ext cx="4516073" cy="646331"/>
          </a:xfrm>
          <a:prstGeom prst="rect">
            <a:avLst/>
          </a:prstGeom>
          <a:noFill/>
        </p:spPr>
        <p:txBody>
          <a:bodyPr wrap="square">
            <a:spAutoFit/>
          </a:bodyPr>
          <a:lstStyle/>
          <a:p>
            <a:r>
              <a:rPr lang="en-GB" sz="1200" dirty="0"/>
              <a:t>Source from:</a:t>
            </a:r>
          </a:p>
          <a:p>
            <a:r>
              <a:rPr lang="en-GB" sz="1200" dirty="0"/>
              <a:t>Tripathy, P., Naik K. (2014). </a:t>
            </a:r>
            <a:r>
              <a:rPr lang="en-GB" sz="1200" i="1" dirty="0"/>
              <a:t>Software Evolution and Maintenance – A Practitioner’s Approach</a:t>
            </a:r>
            <a:r>
              <a:rPr lang="en-GB" sz="1200" dirty="0"/>
              <a:t>. John Wiley and Son. Springer </a:t>
            </a:r>
            <a:r>
              <a:rPr lang="en-GB" sz="1200" dirty="0" err="1"/>
              <a:t>Vieweg</a:t>
            </a:r>
            <a:r>
              <a:rPr lang="en-GB" sz="1200" dirty="0"/>
              <a:t>.</a:t>
            </a:r>
            <a:endParaRPr lang="en-US" sz="1200" dirty="0"/>
          </a:p>
        </p:txBody>
      </p:sp>
    </p:spTree>
    <p:extLst>
      <p:ext uri="{BB962C8B-B14F-4D97-AF65-F5344CB8AC3E}">
        <p14:creationId xmlns:p14="http://schemas.microsoft.com/office/powerpoint/2010/main" val="2214800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643" y="775910"/>
            <a:ext cx="10018713" cy="905005"/>
          </a:xfrm>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rPr>
              <a:t>Maintenance Types</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06105" y="1970847"/>
            <a:ext cx="10178322" cy="4610629"/>
          </a:xfrm>
        </p:spPr>
        <p:txBody>
          <a:bodyPr>
            <a:noAutofit/>
          </a:bodyPr>
          <a:lstStyle/>
          <a:p>
            <a:r>
              <a:rPr lang="en-US" sz="2400" dirty="0">
                <a:latin typeface="Times New Roman" panose="02020603050405020304" pitchFamily="18" charset="0"/>
                <a:ea typeface="DengXian" panose="02010600030101010101" pitchFamily="2" charset="-122"/>
                <a:cs typeface="Times New Roman" panose="02020603050405020304" pitchFamily="18" charset="0"/>
              </a:rPr>
              <a:t>Activity. Investigation, modification, management, and quality assurance are all examples of software maintenance activities. Investigations are being conducted. Analyze the consequences of making a certain system modification.</a:t>
            </a:r>
          </a:p>
          <a:p>
            <a:r>
              <a:rPr lang="en-US" sz="2400" dirty="0">
                <a:latin typeface="Times New Roman" panose="02020603050405020304" pitchFamily="18" charset="0"/>
                <a:ea typeface="DengXian" panose="02010600030101010101" pitchFamily="2" charset="-122"/>
                <a:cs typeface="Times New Roman" panose="02020603050405020304" pitchFamily="18" charset="0"/>
              </a:rPr>
              <a:t>Modification is a process. Change the way the system is implemented.</a:t>
            </a:r>
          </a:p>
          <a:p>
            <a:r>
              <a:rPr lang="en-US" sz="2400" dirty="0">
                <a:latin typeface="Times New Roman" panose="02020603050405020304" pitchFamily="18" charset="0"/>
                <a:ea typeface="DengXian" panose="02010600030101010101" pitchFamily="2" charset="-122"/>
                <a:cs typeface="Times New Roman" panose="02020603050405020304" pitchFamily="18" charset="0"/>
              </a:rPr>
              <a:t>Management is a type of activity. pertain to the administration of the maintenance process or the configuration control of the maintained system.</a:t>
            </a:r>
          </a:p>
          <a:p>
            <a:r>
              <a:rPr lang="en-US" sz="2400" dirty="0">
                <a:latin typeface="Times New Roman" panose="02020603050405020304" pitchFamily="18" charset="0"/>
                <a:ea typeface="DengXian" panose="02010600030101010101" pitchFamily="2" charset="-122"/>
                <a:cs typeface="Times New Roman" panose="02020603050405020304" pitchFamily="18" charset="0"/>
              </a:rPr>
              <a:t>This is a quality control activity. Ascertain that system modifications do not jeopardies the system's integrity.</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12C026C-84A9-3710-A76F-01350C7F1B22}"/>
              </a:ext>
            </a:extLst>
          </p:cNvPr>
          <p:cNvSpPr txBox="1"/>
          <p:nvPr/>
        </p:nvSpPr>
        <p:spPr>
          <a:xfrm>
            <a:off x="7468549" y="5620667"/>
            <a:ext cx="4516073" cy="646331"/>
          </a:xfrm>
          <a:prstGeom prst="rect">
            <a:avLst/>
          </a:prstGeom>
          <a:noFill/>
        </p:spPr>
        <p:txBody>
          <a:bodyPr wrap="square">
            <a:spAutoFit/>
          </a:bodyPr>
          <a:lstStyle/>
          <a:p>
            <a:r>
              <a:rPr lang="en-GB" sz="1200" dirty="0"/>
              <a:t>Source from:</a:t>
            </a:r>
          </a:p>
          <a:p>
            <a:r>
              <a:rPr lang="en-GB" sz="1200" dirty="0"/>
              <a:t>Tripathy, P., Naik K. (2014). </a:t>
            </a:r>
            <a:r>
              <a:rPr lang="en-GB" sz="1200" i="1" dirty="0"/>
              <a:t>Software Evolution and Maintenance – A Practitioner’s Approach</a:t>
            </a:r>
            <a:r>
              <a:rPr lang="en-GB" sz="1200" dirty="0"/>
              <a:t>. John Wiley and Son. Springer </a:t>
            </a:r>
            <a:r>
              <a:rPr lang="en-GB" sz="1200" dirty="0" err="1"/>
              <a:t>Vieweg</a:t>
            </a:r>
            <a:r>
              <a:rPr lang="en-GB" sz="1200" dirty="0"/>
              <a:t>.</a:t>
            </a:r>
            <a:endParaRPr lang="en-US" sz="1200" dirty="0"/>
          </a:p>
        </p:txBody>
      </p:sp>
    </p:spTree>
    <p:extLst>
      <p:ext uri="{BB962C8B-B14F-4D97-AF65-F5344CB8AC3E}">
        <p14:creationId xmlns:p14="http://schemas.microsoft.com/office/powerpoint/2010/main" val="2757970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92098"/>
            <a:ext cx="10058400" cy="845262"/>
          </a:xfrm>
        </p:spPr>
        <p:txBody>
          <a:bodyPr>
            <a:normAutofit/>
          </a:bodyPr>
          <a:lstStyle/>
          <a:p>
            <a:r>
              <a:rPr lang="en-US" sz="3200" b="1" dirty="0">
                <a:latin typeface="Times New Roman" panose="02020603050405020304" pitchFamily="18" charset="0"/>
                <a:cs typeface="Times New Roman" panose="02020603050405020304" pitchFamily="18" charset="0"/>
              </a:rPr>
              <a:t> Maintenance Organization Processes </a:t>
            </a:r>
          </a:p>
        </p:txBody>
      </p:sp>
      <p:sp>
        <p:nvSpPr>
          <p:cNvPr id="3" name="Content Placeholder 2"/>
          <p:cNvSpPr>
            <a:spLocks noGrp="1"/>
          </p:cNvSpPr>
          <p:nvPr>
            <p:ph idx="1"/>
          </p:nvPr>
        </p:nvSpPr>
        <p:spPr>
          <a:xfrm>
            <a:off x="1297699" y="2037433"/>
            <a:ext cx="10178322" cy="3696229"/>
          </a:xfrm>
        </p:spPr>
        <p:txBody>
          <a:bodyPr>
            <a:normAutofit/>
          </a:bodyPr>
          <a:lstStyle/>
          <a:p>
            <a:pPr marL="45720" indent="0">
              <a:buNone/>
            </a:pPr>
            <a:r>
              <a:rPr lang="en-US" sz="2400" dirty="0">
                <a:latin typeface="Times New Roman" panose="02020603050405020304" pitchFamily="18" charset="0"/>
                <a:ea typeface="DengXian" panose="02010600030101010101" pitchFamily="2" charset="-122"/>
                <a:cs typeface="Times New Roman" panose="02020603050405020304" pitchFamily="18" charset="0"/>
              </a:rPr>
              <a:t>Two different levels of maintenance processes :</a:t>
            </a:r>
          </a:p>
          <a:p>
            <a:pPr marL="45720" indent="0">
              <a:buNone/>
            </a:pPr>
            <a:r>
              <a:rPr lang="en-US" sz="2400" b="1" dirty="0">
                <a:latin typeface="Times New Roman" panose="02020603050405020304" pitchFamily="18" charset="0"/>
                <a:ea typeface="DengXian" panose="02010600030101010101" pitchFamily="2" charset="-122"/>
                <a:cs typeface="Times New Roman" panose="02020603050405020304" pitchFamily="18" charset="0"/>
              </a:rPr>
              <a:t>Individual-level maintenance processes</a:t>
            </a:r>
          </a:p>
          <a:p>
            <a:r>
              <a:rPr lang="en-US" sz="2400" dirty="0">
                <a:latin typeface="Times New Roman" panose="02020603050405020304" pitchFamily="18" charset="0"/>
                <a:ea typeface="DengXian" panose="02010600030101010101" pitchFamily="2" charset="-122"/>
                <a:cs typeface="Times New Roman" panose="02020603050405020304" pitchFamily="18" charset="0"/>
              </a:rPr>
              <a:t>followed by maintenance personnel to implement a specific CR(Change Request)</a:t>
            </a:r>
          </a:p>
          <a:p>
            <a:endParaRPr lang="en-US" sz="2400" dirty="0">
              <a:latin typeface="Times New Roman" panose="02020603050405020304" pitchFamily="18" charset="0"/>
              <a:ea typeface="DengXian" panose="02010600030101010101" pitchFamily="2" charset="-122"/>
              <a:cs typeface="Times New Roman" panose="02020603050405020304" pitchFamily="18" charset="0"/>
            </a:endParaRPr>
          </a:p>
          <a:p>
            <a:pPr marL="45720" indent="0">
              <a:buNone/>
            </a:pPr>
            <a:r>
              <a:rPr lang="en-US" sz="2400" b="1" dirty="0">
                <a:latin typeface="Times New Roman" panose="02020603050405020304" pitchFamily="18" charset="0"/>
                <a:ea typeface="DengXian" panose="02010600030101010101" pitchFamily="2" charset="-122"/>
                <a:cs typeface="Times New Roman" panose="02020603050405020304" pitchFamily="18" charset="0"/>
              </a:rPr>
              <a:t>Organization-level process </a:t>
            </a:r>
          </a:p>
          <a:p>
            <a:r>
              <a:rPr lang="en-US" sz="2400" dirty="0">
                <a:latin typeface="Times New Roman" panose="02020603050405020304" pitchFamily="18" charset="0"/>
                <a:ea typeface="DengXian" panose="02010600030101010101" pitchFamily="2" charset="-122"/>
                <a:cs typeface="Times New Roman" panose="02020603050405020304" pitchFamily="18" charset="0"/>
              </a:rPr>
              <a:t>manage the change requests </a:t>
            </a:r>
          </a:p>
          <a:p>
            <a:r>
              <a:rPr lang="en-US" sz="2400" dirty="0">
                <a:latin typeface="Times New Roman" panose="02020603050405020304" pitchFamily="18" charset="0"/>
                <a:ea typeface="DengXian" panose="02010600030101010101" pitchFamily="2" charset="-122"/>
                <a:cs typeface="Times New Roman" panose="02020603050405020304" pitchFamily="18" charset="0"/>
              </a:rPr>
              <a:t>Is referred to as the maintenance organization process.</a:t>
            </a:r>
          </a:p>
          <a:p>
            <a:endParaRPr lang="en-US" sz="2400" dirty="0">
              <a:solidFill>
                <a:schemeClr val="tx1"/>
              </a:solidFill>
              <a:latin typeface="Times New Roman" panose="02020603050405020304" pitchFamily="18" charset="0"/>
              <a:cs typeface="Times New Roman" panose="02020603050405020304" pitchFamily="18" charset="0"/>
            </a:endParaRPr>
          </a:p>
          <a:p>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7A0C80E-7183-B863-3E17-9AA86B2EB123}"/>
              </a:ext>
            </a:extLst>
          </p:cNvPr>
          <p:cNvSpPr txBox="1"/>
          <p:nvPr/>
        </p:nvSpPr>
        <p:spPr>
          <a:xfrm>
            <a:off x="7468549" y="5620667"/>
            <a:ext cx="4516073" cy="646331"/>
          </a:xfrm>
          <a:prstGeom prst="rect">
            <a:avLst/>
          </a:prstGeom>
          <a:noFill/>
        </p:spPr>
        <p:txBody>
          <a:bodyPr wrap="square">
            <a:spAutoFit/>
          </a:bodyPr>
          <a:lstStyle/>
          <a:p>
            <a:r>
              <a:rPr lang="en-GB" sz="1200" dirty="0"/>
              <a:t>Source from:</a:t>
            </a:r>
          </a:p>
          <a:p>
            <a:r>
              <a:rPr lang="en-GB" sz="1200" dirty="0"/>
              <a:t>Tripathy, P., Naik K. (2014). </a:t>
            </a:r>
            <a:r>
              <a:rPr lang="en-GB" sz="1200" i="1" dirty="0"/>
              <a:t>Software Evolution and Maintenance – A Practitioner’s Approach</a:t>
            </a:r>
            <a:r>
              <a:rPr lang="en-GB" sz="1200" dirty="0"/>
              <a:t>. John Wiley and Son. Springer </a:t>
            </a:r>
            <a:r>
              <a:rPr lang="en-GB" sz="1200" dirty="0" err="1"/>
              <a:t>Vieweg</a:t>
            </a:r>
            <a:r>
              <a:rPr lang="en-GB" sz="1200" dirty="0"/>
              <a:t>.</a:t>
            </a:r>
            <a:endParaRPr lang="en-US" sz="1200" dirty="0"/>
          </a:p>
        </p:txBody>
      </p:sp>
    </p:spTree>
    <p:extLst>
      <p:ext uri="{BB962C8B-B14F-4D97-AF65-F5344CB8AC3E}">
        <p14:creationId xmlns:p14="http://schemas.microsoft.com/office/powerpoint/2010/main" val="7125068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Peopleware	</a:t>
            </a:r>
          </a:p>
        </p:txBody>
      </p:sp>
      <p:sp>
        <p:nvSpPr>
          <p:cNvPr id="3" name="Content Placeholder 2"/>
          <p:cNvSpPr>
            <a:spLocks noGrp="1"/>
          </p:cNvSpPr>
          <p:nvPr>
            <p:ph idx="1"/>
          </p:nvPr>
        </p:nvSpPr>
        <p:spPr>
          <a:xfrm>
            <a:off x="1251636" y="2032867"/>
            <a:ext cx="8596668" cy="3880773"/>
          </a:xfrm>
        </p:spPr>
        <p:txBody>
          <a:bodyPr>
            <a:normAutofit/>
          </a:bodyPr>
          <a:lstStyle/>
          <a:p>
            <a:r>
              <a:rPr lang="en-US" sz="2400" dirty="0">
                <a:latin typeface="Times New Roman" panose="02020603050405020304" pitchFamily="18" charset="0"/>
                <a:cs typeface="Times New Roman" panose="02020603050405020304" pitchFamily="18" charset="0"/>
              </a:rPr>
              <a:t>Refers to the human factors that influence software maintenance.</a:t>
            </a:r>
          </a:p>
          <a:p>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An experience programmer may find new bugs in the software program. </a:t>
            </a:r>
          </a:p>
          <a:p>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Separation on development staff and maintenance staff may impact maintenance process.</a:t>
            </a:r>
          </a:p>
          <a:p>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Customer and users’ size, variability and common goals also influence maintenance process.</a:t>
            </a:r>
          </a:p>
          <a:p>
            <a:endParaRPr 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D9E2F93-8FEB-97E8-24D2-DD5B48A24658}"/>
              </a:ext>
            </a:extLst>
          </p:cNvPr>
          <p:cNvSpPr txBox="1"/>
          <p:nvPr/>
        </p:nvSpPr>
        <p:spPr>
          <a:xfrm>
            <a:off x="7468549" y="5620667"/>
            <a:ext cx="4516073" cy="646331"/>
          </a:xfrm>
          <a:prstGeom prst="rect">
            <a:avLst/>
          </a:prstGeom>
          <a:noFill/>
        </p:spPr>
        <p:txBody>
          <a:bodyPr wrap="square">
            <a:spAutoFit/>
          </a:bodyPr>
          <a:lstStyle/>
          <a:p>
            <a:r>
              <a:rPr lang="en-GB" sz="1200" dirty="0"/>
              <a:t>Source from:</a:t>
            </a:r>
          </a:p>
          <a:p>
            <a:r>
              <a:rPr lang="en-GB" sz="1200" dirty="0"/>
              <a:t>Tripathy, P., Naik K. (2014). </a:t>
            </a:r>
            <a:r>
              <a:rPr lang="en-GB" sz="1200" i="1" dirty="0"/>
              <a:t>Software Evolution and Maintenance – A Practitioner’s Approach</a:t>
            </a:r>
            <a:r>
              <a:rPr lang="en-GB" sz="1200" dirty="0"/>
              <a:t>. John Wiley and Son. Springer </a:t>
            </a:r>
            <a:r>
              <a:rPr lang="en-GB" sz="1200" dirty="0" err="1"/>
              <a:t>Vieweg</a:t>
            </a:r>
            <a:r>
              <a:rPr lang="en-GB" sz="1200" dirty="0"/>
              <a:t>.</a:t>
            </a:r>
            <a:endParaRPr lang="en-US" sz="1200" dirty="0"/>
          </a:p>
        </p:txBody>
      </p:sp>
    </p:spTree>
    <p:extLst>
      <p:ext uri="{BB962C8B-B14F-4D97-AF65-F5344CB8AC3E}">
        <p14:creationId xmlns:p14="http://schemas.microsoft.com/office/powerpoint/2010/main" val="28588907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rPr>
              <a:t>References</a:t>
            </a:r>
          </a:p>
        </p:txBody>
      </p:sp>
      <p:sp>
        <p:nvSpPr>
          <p:cNvPr id="6" name="Content Placeholder 7">
            <a:extLst>
              <a:ext uri="{FF2B5EF4-FFF2-40B4-BE49-F238E27FC236}">
                <a16:creationId xmlns:a16="http://schemas.microsoft.com/office/drawing/2014/main" id="{C77418EB-7E59-432C-B180-5FAF1588C2D6}"/>
              </a:ext>
            </a:extLst>
          </p:cNvPr>
          <p:cNvSpPr txBox="1">
            <a:spLocks/>
          </p:cNvSpPr>
          <p:nvPr/>
        </p:nvSpPr>
        <p:spPr>
          <a:xfrm>
            <a:off x="1097280" y="1923998"/>
            <a:ext cx="10018713" cy="4237608"/>
          </a:xfrm>
          <a:prstGeom prst="rect">
            <a:avLst/>
          </a:prstGeom>
        </p:spPr>
        <p:txBody>
          <a:bodyPr vert="horz" lIns="91440" tIns="45720" rIns="91440" bIns="45720" rtlCol="0" anchor="ctr">
            <a:normAutofit fontScale="47500" lnSpcReduction="200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US" sz="3400" dirty="0">
                <a:latin typeface="Times New Roman" panose="02020603050405020304" pitchFamily="18" charset="0"/>
                <a:ea typeface="DengXian" panose="02010600030101010101" pitchFamily="2" charset="-122"/>
                <a:cs typeface="Times New Roman" panose="02020603050405020304" pitchFamily="18" charset="0"/>
              </a:rPr>
              <a:t>1. </a:t>
            </a:r>
            <a:r>
              <a:rPr lang="en-US" sz="3400" dirty="0" err="1">
                <a:latin typeface="Times New Roman" panose="02020603050405020304" pitchFamily="18" charset="0"/>
                <a:ea typeface="DengXian" panose="02010600030101010101" pitchFamily="2" charset="-122"/>
                <a:cs typeface="Times New Roman" panose="02020603050405020304" pitchFamily="18" charset="0"/>
              </a:rPr>
              <a:t>Blokdyk</a:t>
            </a:r>
            <a:r>
              <a:rPr lang="en-US" sz="3400" dirty="0">
                <a:latin typeface="Times New Roman" panose="02020603050405020304" pitchFamily="18" charset="0"/>
                <a:ea typeface="DengXian" panose="02010600030101010101" pitchFamily="2" charset="-122"/>
                <a:cs typeface="Times New Roman" panose="02020603050405020304" pitchFamily="18" charset="0"/>
              </a:rPr>
              <a:t>. G. ((2020). Maintenance of software : a complete guide : practical tools for self-assessment. Art of Service. </a:t>
            </a:r>
          </a:p>
          <a:p>
            <a:pPr marL="0" indent="0">
              <a:buNone/>
            </a:pPr>
            <a:r>
              <a:rPr lang="en-US" sz="3400" dirty="0">
                <a:latin typeface="Times New Roman" panose="02020603050405020304" pitchFamily="18" charset="0"/>
                <a:ea typeface="DengXian" panose="02010600030101010101" pitchFamily="2" charset="-122"/>
                <a:cs typeface="Times New Roman" panose="02020603050405020304" pitchFamily="18" charset="0"/>
              </a:rPr>
              <a:t>2. </a:t>
            </a:r>
            <a:r>
              <a:rPr lang="en-US" sz="3400" dirty="0" err="1">
                <a:latin typeface="Times New Roman" panose="02020603050405020304" pitchFamily="18" charset="0"/>
                <a:ea typeface="DengXian" panose="02010600030101010101" pitchFamily="2" charset="-122"/>
                <a:cs typeface="Times New Roman" panose="02020603050405020304" pitchFamily="18" charset="0"/>
              </a:rPr>
              <a:t>Blokdyk</a:t>
            </a:r>
            <a:r>
              <a:rPr lang="en-US" sz="3400" dirty="0">
                <a:latin typeface="Times New Roman" panose="02020603050405020304" pitchFamily="18" charset="0"/>
                <a:ea typeface="DengXian" panose="02010600030101010101" pitchFamily="2" charset="-122"/>
                <a:cs typeface="Times New Roman" panose="02020603050405020304" pitchFamily="18" charset="0"/>
              </a:rPr>
              <a:t>. G.. (2020). Software change management : a complete guide : practical tools for self-assessment. Art of Service. </a:t>
            </a:r>
          </a:p>
          <a:p>
            <a:pPr marL="0" indent="0">
              <a:buNone/>
            </a:pPr>
            <a:r>
              <a:rPr lang="en-US" sz="3400" dirty="0">
                <a:latin typeface="Times New Roman" panose="02020603050405020304" pitchFamily="18" charset="0"/>
                <a:ea typeface="DengXian" panose="02010600030101010101" pitchFamily="2" charset="-122"/>
                <a:cs typeface="Times New Roman" panose="02020603050405020304" pitchFamily="18" charset="0"/>
              </a:rPr>
              <a:t>3. Maxim. B. R., Pressman. R. S. (2020) Software Engineering: A Practitioner's Approach. 9th </a:t>
            </a:r>
            <a:r>
              <a:rPr lang="en-US" sz="3400" dirty="0" err="1">
                <a:latin typeface="Times New Roman" panose="02020603050405020304" pitchFamily="18" charset="0"/>
                <a:ea typeface="DengXian" panose="02010600030101010101" pitchFamily="2" charset="-122"/>
                <a:cs typeface="Times New Roman" panose="02020603050405020304" pitchFamily="18" charset="0"/>
              </a:rPr>
              <a:t>Edn</a:t>
            </a:r>
            <a:r>
              <a:rPr lang="en-US" sz="3400" dirty="0">
                <a:latin typeface="Times New Roman" panose="02020603050405020304" pitchFamily="18" charset="0"/>
                <a:ea typeface="DengXian" panose="02010600030101010101" pitchFamily="2" charset="-122"/>
                <a:cs typeface="Times New Roman" panose="02020603050405020304" pitchFamily="18" charset="0"/>
              </a:rPr>
              <a:t>. McGraw-Hill Education</a:t>
            </a:r>
          </a:p>
          <a:p>
            <a:pPr marL="0" indent="0">
              <a:buNone/>
            </a:pPr>
            <a:endParaRPr lang="en-GB" sz="3400" dirty="0">
              <a:latin typeface="Times New Roman" panose="02020603050405020304" pitchFamily="18" charset="0"/>
              <a:ea typeface="DengXian" panose="02010600030101010101" pitchFamily="2" charset="-122"/>
              <a:cs typeface="Times New Roman" panose="02020603050405020304" pitchFamily="18" charset="0"/>
            </a:endParaRPr>
          </a:p>
          <a:p>
            <a:pPr marL="0" indent="0">
              <a:buNone/>
            </a:pPr>
            <a:r>
              <a:rPr lang="en-GB" sz="3400" dirty="0">
                <a:latin typeface="Times New Roman" panose="02020603050405020304" pitchFamily="18" charset="0"/>
                <a:ea typeface="DengXian" panose="02010600030101010101" pitchFamily="2" charset="-122"/>
                <a:cs typeface="Times New Roman" panose="02020603050405020304" pitchFamily="18" charset="0"/>
              </a:rPr>
              <a:t>Other references</a:t>
            </a:r>
          </a:p>
          <a:p>
            <a:pPr marL="0" indent="0">
              <a:buNone/>
            </a:pPr>
            <a:r>
              <a:rPr lang="en-GB" sz="3400" dirty="0">
                <a:latin typeface="Times New Roman" panose="02020603050405020304" pitchFamily="18" charset="0"/>
                <a:ea typeface="DengXian" panose="02010600030101010101" pitchFamily="2" charset="-122"/>
                <a:cs typeface="Times New Roman" panose="02020603050405020304" pitchFamily="18" charset="0"/>
              </a:rPr>
              <a:t>1. E. </a:t>
            </a:r>
            <a:r>
              <a:rPr lang="en-GB" sz="3400" dirty="0" err="1">
                <a:latin typeface="Times New Roman" panose="02020603050405020304" pitchFamily="18" charset="0"/>
                <a:ea typeface="DengXian" panose="02010600030101010101" pitchFamily="2" charset="-122"/>
                <a:cs typeface="Times New Roman" panose="02020603050405020304" pitchFamily="18" charset="0"/>
              </a:rPr>
              <a:t>Varga</a:t>
            </a:r>
            <a:r>
              <a:rPr lang="en-GB" sz="3400" dirty="0">
                <a:latin typeface="Times New Roman" panose="02020603050405020304" pitchFamily="18" charset="0"/>
                <a:ea typeface="DengXian" panose="02010600030101010101" pitchFamily="2" charset="-122"/>
                <a:cs typeface="Times New Roman" panose="02020603050405020304" pitchFamily="18" charset="0"/>
              </a:rPr>
              <a:t>. (2017). </a:t>
            </a:r>
            <a:r>
              <a:rPr lang="en-GB" sz="3400" dirty="0" err="1">
                <a:latin typeface="Times New Roman" panose="02020603050405020304" pitchFamily="18" charset="0"/>
                <a:ea typeface="DengXian" panose="02010600030101010101" pitchFamily="2" charset="-122"/>
                <a:cs typeface="Times New Roman" panose="02020603050405020304" pitchFamily="18" charset="0"/>
              </a:rPr>
              <a:t>Unraveling</a:t>
            </a:r>
            <a:r>
              <a:rPr lang="en-GB" sz="3400" dirty="0">
                <a:latin typeface="Times New Roman" panose="02020603050405020304" pitchFamily="18" charset="0"/>
                <a:ea typeface="DengXian" panose="02010600030101010101" pitchFamily="2" charset="-122"/>
                <a:cs typeface="Times New Roman" panose="02020603050405020304" pitchFamily="18" charset="0"/>
              </a:rPr>
              <a:t> software maintenance and evolution : thinking outside the box. Springer.</a:t>
            </a:r>
            <a:endParaRPr lang="en-US" sz="3400" dirty="0">
              <a:latin typeface="Times New Roman" panose="02020603050405020304" pitchFamily="18" charset="0"/>
              <a:ea typeface="DengXian" panose="02010600030101010101" pitchFamily="2" charset="-122"/>
              <a:cs typeface="Times New Roman" panose="02020603050405020304" pitchFamily="18" charset="0"/>
            </a:endParaRPr>
          </a:p>
          <a:p>
            <a:pPr marL="0" indent="0">
              <a:buNone/>
            </a:pPr>
            <a:r>
              <a:rPr lang="en-GB" sz="3400" dirty="0">
                <a:latin typeface="Times New Roman" panose="02020603050405020304" pitchFamily="18" charset="0"/>
                <a:ea typeface="DengXian" panose="02010600030101010101" pitchFamily="2" charset="-122"/>
                <a:cs typeface="Times New Roman" panose="02020603050405020304" pitchFamily="18" charset="0"/>
              </a:rPr>
              <a:t>2. F. </a:t>
            </a:r>
            <a:r>
              <a:rPr lang="en-GB" sz="3400" dirty="0" err="1">
                <a:latin typeface="Times New Roman" panose="02020603050405020304" pitchFamily="18" charset="0"/>
                <a:ea typeface="DengXian" panose="02010600030101010101" pitchFamily="2" charset="-122"/>
                <a:cs typeface="Times New Roman" panose="02020603050405020304" pitchFamily="18" charset="0"/>
              </a:rPr>
              <a:t>Tsui</a:t>
            </a:r>
            <a:r>
              <a:rPr lang="en-GB" sz="3400" dirty="0">
                <a:latin typeface="Times New Roman" panose="02020603050405020304" pitchFamily="18" charset="0"/>
                <a:ea typeface="DengXian" panose="02010600030101010101" pitchFamily="2" charset="-122"/>
                <a:cs typeface="Times New Roman" panose="02020603050405020304" pitchFamily="18" charset="0"/>
              </a:rPr>
              <a:t>. O. Karam. B. Bernal. (2018). Essentials of Software Engineering. 4th Edition. Jones &amp; Bartlett Learning.</a:t>
            </a:r>
            <a:endParaRPr lang="en-US" sz="3400" dirty="0">
              <a:latin typeface="Times New Roman" panose="02020603050405020304" pitchFamily="18" charset="0"/>
              <a:ea typeface="DengXian" panose="02010600030101010101" pitchFamily="2" charset="-122"/>
              <a:cs typeface="Times New Roman" panose="02020603050405020304" pitchFamily="18" charset="0"/>
            </a:endParaRPr>
          </a:p>
          <a:p>
            <a:pPr marL="0" indent="0">
              <a:buNone/>
            </a:pPr>
            <a:r>
              <a:rPr lang="en-GB" sz="3400" dirty="0">
                <a:latin typeface="Times New Roman" panose="02020603050405020304" pitchFamily="18" charset="0"/>
                <a:ea typeface="DengXian" panose="02010600030101010101" pitchFamily="2" charset="-122"/>
                <a:cs typeface="Times New Roman" panose="02020603050405020304" pitchFamily="18" charset="0"/>
              </a:rPr>
              <a:t>3. Tripathy, P., Naik K. (2014). Software Evolution and Maintenance – A Practitioner’s Approach. John Wiley and Son. Springer </a:t>
            </a:r>
            <a:r>
              <a:rPr lang="en-GB" sz="3400" dirty="0" err="1">
                <a:latin typeface="Times New Roman" panose="02020603050405020304" pitchFamily="18" charset="0"/>
                <a:ea typeface="DengXian" panose="02010600030101010101" pitchFamily="2" charset="-122"/>
                <a:cs typeface="Times New Roman" panose="02020603050405020304" pitchFamily="18" charset="0"/>
              </a:rPr>
              <a:t>Vieweg</a:t>
            </a:r>
            <a:r>
              <a:rPr lang="en-GB" sz="3400" dirty="0">
                <a:latin typeface="Times New Roman" panose="02020603050405020304" pitchFamily="18" charset="0"/>
                <a:ea typeface="DengXian" panose="02010600030101010101" pitchFamily="2" charset="-122"/>
                <a:cs typeface="Times New Roman" panose="02020603050405020304" pitchFamily="18" charset="0"/>
              </a:rPr>
              <a:t>.</a:t>
            </a:r>
            <a:endParaRPr lang="en-US" sz="3400" dirty="0">
              <a:latin typeface="Times New Roman" panose="02020603050405020304" pitchFamily="18" charset="0"/>
              <a:ea typeface="DengXian" panose="02010600030101010101" pitchFamily="2" charset="-122"/>
              <a:cs typeface="Times New Roman" panose="02020603050405020304" pitchFamily="18" charset="0"/>
            </a:endParaRPr>
          </a:p>
          <a:p>
            <a:pPr marL="0" indent="0">
              <a:buFont typeface="Arial"/>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490368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810</TotalTime>
  <Words>2109</Words>
  <Application>Microsoft Office PowerPoint</Application>
  <PresentationFormat>Widescreen</PresentationFormat>
  <Paragraphs>186</Paragraphs>
  <Slides>26</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Retrospect</vt:lpstr>
      <vt:lpstr>PowerPoint Presentation</vt:lpstr>
      <vt:lpstr>Key characteristics of maintenance activities</vt:lpstr>
      <vt:lpstr>Characteristics of Software Maintenance </vt:lpstr>
      <vt:lpstr>Characteristics of Software Maintenance </vt:lpstr>
      <vt:lpstr>Intention-based classification  </vt:lpstr>
      <vt:lpstr>Intention-based classification </vt:lpstr>
      <vt:lpstr>Intention-based classification </vt:lpstr>
      <vt:lpstr>Intention-based classification </vt:lpstr>
      <vt:lpstr>Intention-based classification </vt:lpstr>
      <vt:lpstr>Activity-Based Classification </vt:lpstr>
      <vt:lpstr>Activity-Based Classification </vt:lpstr>
      <vt:lpstr>Evidence-Based Classification</vt:lpstr>
      <vt:lpstr>Evidence-Based Classification</vt:lpstr>
      <vt:lpstr>Support Interface</vt:lpstr>
      <vt:lpstr>Documentation</vt:lpstr>
      <vt:lpstr>Software Properties</vt:lpstr>
      <vt:lpstr>Business Rules</vt:lpstr>
      <vt:lpstr>Evidence based maintenance activities</vt:lpstr>
      <vt:lpstr>Evidence-Based Classification</vt:lpstr>
      <vt:lpstr>Categories of Domain Concepts that Influence S/W maintenance</vt:lpstr>
      <vt:lpstr>CATEGORIES OF DOMAIN CONCEPTS</vt:lpstr>
      <vt:lpstr>PowerPoint Presentation</vt:lpstr>
      <vt:lpstr>Maintenance Types</vt:lpstr>
      <vt:lpstr> Maintenance Organization Processes </vt:lpstr>
      <vt:lpstr>Peopleware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BACS3003 Software Evolution and Maintenance</dc:title>
  <dc:creator>TAR UC</dc:creator>
  <cp:lastModifiedBy>TARUMT</cp:lastModifiedBy>
  <cp:revision>99</cp:revision>
  <dcterms:created xsi:type="dcterms:W3CDTF">2017-05-03T06:14:19Z</dcterms:created>
  <dcterms:modified xsi:type="dcterms:W3CDTF">2025-06-18T03:03:58Z</dcterms:modified>
</cp:coreProperties>
</file>